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nine screenshots in the Materials folder. Companion workbook: RISA_Materials_Library_Imperial.xlsx.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5B2A86">
              <a:alpha val="45000"/>
            </a:srgbClr>
          </a:solidFill>
          <a:ln w="12700">
            <a:solidFill>
              <a:srgbClr val="5B2A8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566160"/>
            <a:ext cx="3840480" cy="3840480"/>
          </a:xfrm>
          <a:prstGeom prst="ellipse">
            <a:avLst/>
          </a:prstGeom>
          <a:solidFill>
            <a:srgbClr val="D9950A">
              <a:alpha val="30000"/>
            </a:srgbClr>
          </a:solidFill>
          <a:ln w="12700">
            <a:solidFill>
              <a:srgbClr val="D9950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Library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Imperial units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83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RISA-3D material tables as the reference for Python Solver Rev.2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material tabs, 41 materials, one masonry self-weight rule, in kip, inch, foot and °F as RISA displays them. What every column means, how the numbers were derived, and how the solver should consume them.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Airol Escranda  |  Numerical Methods, Lab 03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material properties enter the solver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stiffness solver never uses a material name. It uses four numbers, and a fifth for loads. Everything on the eight RISA tabs exists to supply these.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Modulus of elasticity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term EA/L and bending terms 12EI/L³, 6EI/L², 4EI/L in the member stiffness matrix. Also plate membrane stiffness.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8892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7180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718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modulus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Torsional stiffness GJ/L, and the shear-deformation correction on deep members. Isotropic rule: G = E / 2(1+ν).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1208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1208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21208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Poisson's ratio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G to E and sets the in-plane coupling of plate and shell elements.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5236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45236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weight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Self-weight load: w = γ · A per unit length. Converted to nodal forces in the load vector.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09760" y="201168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92640" y="2194560"/>
            <a:ext cx="731520" cy="73152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6926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969264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coefficient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9264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strain α·ΔT, turned into equivalent member end forces for temperature load cases.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(Fy, Fu, f'c, f'm, Ftu) do not change the stiffness solution. They belong to the design-check layer that sits on top of the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 at a glance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tabs in RISA-3D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transcribed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properties shared by every tab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384048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columns beyond the shared five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Rolled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A36, A572, A992, A500 steels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Yield, Fu, Ry,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Formed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A570_33, A607_C1_55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Yield, 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sawn, glulam, LVL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Database, Species, Grade, Cm, Ci, Emod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 4 ksi, normal and lightweight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f'c, Lambda, Flex Steel, Shear Steel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and clay masonry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f'm, Flex Steel, Shear Steel, Self Weight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3003, 5052, 6061, 6063 alloys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B.4, kt, Ftu, Fty, Fcy, Fsu, 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Stainless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(Ramberg-Osgood), Yield, 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concrete, aluminum, steel, RIGID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Methodology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shared columns, and their units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377440"/>
                <a:gridCol w="5212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[ksi]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kip/in²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of elasticity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ksi = 6.894757 MPa. Steel 29,000 ksi = 199,948 MPa.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[ksi]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kip/in²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Shear modulus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from E and ν when blank; tabulated G agrees within 0.1% on 22 of 28 rows.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0.30, concrete 0.15, masonry 0.25, aluminum 0.33, wood 0.30.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Therm. Coeff. [1e-5/°F]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10⁻⁵ per °F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of thermal expansion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by 1e-5 first: steel 0.65 → 6.5e-6 /°F = 11.7e-6 /°C.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[k/ft³]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kip/ft³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weight for self-weight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k/ft³ = 157.09 kN/m³. Steel 0.49 k/ft³ = 490 pcf = 77.0 kN/m³.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5387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strategy for the solver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886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library exactly as RISA shows it (kip, inch, foot, °F) and convert once at the boundary. The companion Metric library carries the same 41 rows converted with 1 ksi = 6.894757 MPa, 1 k/ft³ = 157.0875 kN/m³, 1e-5/°F = 18 × 1e-6/°C.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mixed-unit row is the classic silent error; the Stainless tab shows what that looks like.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26480" y="34290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09360" y="35387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 built into the workbook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3886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 with a G column carries a formula column: G_calc = E / 2(1+ν), and the percentage difference from the tabulated 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the 28 rows with a G value agree within 0.1%. The six aluminum rows carry a fixed 3,787.5 ksi, which is 3E/8 with E = 10,100 (ν = 1/3 exactly), so they sit 0.25% off, and 1.2% off for 5052 with its E of 10,200.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 Rolled steel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693408" cy="21572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Hot-Rolled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20475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831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Materials-SS-Hot-Rolled-TAB.png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ASTM grades. Stiffness is identical across all of them: E = 29,000 ksi, G = 11,154 ksi, ν = 0.30, γ = 0.49 k/ft³.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strength columns differ. A36 yields at 36 ksi; A572 Gr.50 and A992 at 50 ksi; A500 tube steels at 42 and 46 ksi. Fu is 58 ksi throughout.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 and Rt are the AISC 341 expected-strength ratios. Ry × Fy is the expected yield (A36: 1.5 × 36 = 54 ksi), used when a seismic design must guarantee that a brace or link yields before its connection.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one stiffness set, five design labels. The material dictionary can share E, G, ν and vary only Fy, Fu, Ry, Rt.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876356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9860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weight check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3355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 k/ft³ × 1000 = 490 pcf, the standard unit weight of structural steel. A W12×26 (A = 7.65 in²) weighs 490 × 7.65/144 = 26.0 lb/ft, matching its designation.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Formed steel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693408" cy="21572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Cold-Formed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20475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831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Materials-SS-Cold-Formed-TAB.png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sheet-steel grades used for light-gauge framing: A570 Gr.33 (Fy 33, Fu 52 ksi) and A607 Class 1 Gr.55 (Fy 55, Fu 70 ksi).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different modulus: E = 29,500 ksi, not 29,000. AISI S100 specifies 29,500 ksi for cold-formed members, and G = 11,346 ksi follows from E / 2(1.3).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Ry or Rt columns. Cold-formed design under AISI does not use the AISC expected-strength factors.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keep this tab separate from Hot Rolled even though the numbers look alike. A 1.7% difference in E is real and shows up in deflections.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876356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98608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29,500 matters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3355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is proportional to 1/E, so swapping in 29,000 ksi overstates cold-formed deflection by 1.7%. Small, but it is the kind of drift that makes a solver disagree with RISA on a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693408" cy="2146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Concrete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583680" cy="20371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472711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Materials-SS-Concrete-TAB.png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406640" y="132588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mixes: 3,000, 3,500 and 4,000 psi, each in normal weight (145 pcf, λ = 1.0) and lightweight (110 pcf, λ = 0.75).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not typed in; it is derived from f'c and unit weight with ACI 318 Eq. 19.2.2.1(a):  Ec = wc¹·⁵ · 33 · √f'c (psi).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145¹·⁵ × 33 × √3000 = 3,156,000 psi = 3,156 ksi, exactly the Conc3000NW value. For 110 pcf: 2,085 ksi, matching Conc3000LW.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0.15 for all mixes, so G = E / 2.3. Flex Steel and Shear Steel (60 ksi) are the Grade 60 rebar yield used by the design layer only.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865903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975631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for the solver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323103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f'c and γ as the inputs and compute E on load: E_ksi = (γ_pcf)^1.5 × 33 × √(f'c_psi) / 1000. That reproduces every RISA value to the nearest ksi and keeps custom mixes consistent.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Masonry, and how its self-weight is computed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510528" cy="14196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Masonry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400800" cy="130993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745539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Materials-SS-Masonry-TAB.png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93776" y="3129587"/>
            <a:ext cx="3035808" cy="213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Masonry-Self-Weight-W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84451"/>
            <a:ext cx="2926080" cy="202772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321901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Masonry-Self-Weight-WND.png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749040" y="3184451"/>
            <a:ext cx="3200400" cy="2194560"/>
          </a:xfrm>
          <a:prstGeom prst="roundRect">
            <a:avLst>
              <a:gd name="adj" fmla="val 3333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931920" y="3294179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Weight = Custom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931920" y="3641651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does not carry a density. Instead the dialog selects "Using Block and Grout Properties": block material Conc 115 pcf, grout 140 pcf.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weight then depends on block thickness and grout spacing. The greyed-out alternative is a uniform 0.08 k/ft³ (80 pcf).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7223760" y="132588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assemblies: concrete masonry (E 1,350 ksi) and clay masonry (E 1,050 ksi), both with f'm = 1.5 ksi and ν = 0.25.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follows TMS 402: Em = 900 f'm for concrete masonry (900 × 1.5 = 1,350) and 700 f'm for clay (700 × 1.5 = 1,050). G = 0.4 Em = 540 and 420 ksi, which also equals E / 2(1.25).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masonry needs a wall-panel weight routine, not a scalar density. Simplest faithful implementation: weight per area = f(block thickness, block density, grout density, grout spacing) from the NCMA tables, with 80 pcf as the fallback.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876288" cy="28635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Wood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275383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189441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Materials-SS-Wood-TAB.png (labels in rows 7 to 12 truncated on screen; reconstructed from Species)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entries in three families: six visually graded solid-sawn species (No.1), four 24F-1.8E glulam layups from NDS Table 5A (balanced and unbalanced, DF and SP), and two custom LVL products (1.5E-2250F, 2.0E-2900F).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 stores keys, not stiffness. E, Fb, Fv and Fc are looked up in the NDS Supplement by Type, Database, Species and Grade; Emod (1.0) scales the tabulated E, and Cm / Ci apply wet-service and incising factors when checked (none are).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values: ν = 0.30, α = 0.3 × 1e-5 /°F, γ = 0.035 k/ft³ (35 pcf).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solver: wood needs a lookup layer. Until the NDS table is loaded, a placeholder E (for example 1,700 ksi for No.1 DF-L) keeps the model solvable.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582633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4692361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glulam label decoded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039833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24F-1.8E: allowable bending stress 2,400 psi and E = 1.8 × 10⁶ psi = 1,800 ksi. BAL and UNBAL mark balanced or unbalanced layups; DF and SP are Douglas Fir and Southern Pine laminations.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Aluminum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876288" cy="1917797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Aluminum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18080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243677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Materials-SS-Aluminum-TAB.png (row 6 truncated on screen; strengths match welded 6061-T6)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alloy-tempers: 3003-H14, 5052-H34, 6061-T6 (plain and welded), 6063-T5 and 6063-T6.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is nearly constant: E = 10,100 ksi (10,200 for 5052), G = 3,787.5 ksi for every row (3E/8, the ADM value for ν = 1/3), ν = 0.33, γ = 0.173 k/ft³ (173 pcf), α = 1.3 × 1e-5 /°F, twice that of steel.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columns follow the Aluminum Design Manual: Ftu, Fty (tension), Fcy (compression), Fsu (shear), with kt = 1.0 and the buckling constants taken from Table B.4-1 or B.4-2 depending on temper. Ct = 141 is the compression constant.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halves the strength but not the stiffness: 6061-T6 drops from Fty 35 to 15 ksi in the welded row while E stays at 10,100 ksi.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636869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746597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note for the solver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094069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expands at 13.0e-6 /°F versus 6.5e-6 for steel. A 40 ft aluminum member under a 60 °F rise grows 0.37 in; the same steel member grows 0.19 in. Thermal load cases must read α per material, not a global constant.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Stainless: one row, and a unit trap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876288" cy="14954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Stainless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766560" cy="13857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821313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Materials-SS-Stainless-TAB.png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14505"/>
          <a:ext cx="6766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92024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Displayed in RISA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read as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read as MPa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1.931e+5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 ksi (6.7× steel)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193,100 MPa = 28,000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206.843 MPa = 30.0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517.107 MPa = 75.0 ksi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8,009 pcf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g/cm³ (specific gravity of stainless)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8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7589520" y="1325880"/>
            <a:ext cx="4023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SS1 is the only stainless entry. Its values sit under ksi headers but are SI magnitudes: 30 ksi yield and 75 ksi ultimate are the textbook Type 304 values, and 193 GPa is its modulus.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5.6 is the Ramberg-Osgood exponent, the one property unique to this tab. Stainless has no sharp yield, so RISA models the stress-strain curve as ε = σ/E + 0.002 (σ/Fy)ⁿ.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row as a caution, not a value. Either RISA's unit setting changed while the row was entered, or the row was pasted from an SI source. Confirm before the solver uses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 records the row as displayed and flags it on the Stainless and All Materials sheets.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materials and the RIGID link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3776" y="1271016"/>
            <a:ext cx="6144768" cy="25887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Materials-SS-General-T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035040" cy="24789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391459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Materials-SS-General-TAB.png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0" y="132588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generic entries for plates, solids and quick models: four concretes (3 and 4 ksi, normal and lightweight), one aluminum, one steel, and RIGID.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gen_Conc3NW (E 3,155) and gen_Conc4NW (E 3,644) mirror the Concrete tab values within 1 ksi; gen_Alum uses E 10,600 ksi and α 1.29, slightly different from the Aluminum tab.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Methodology = Isotropic for every entry: the same E in every in-plane direction, which is what the solver's plate stiffness should assume.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has E = 1e+6 ksi, no G, and zero density and thermal coefficient. It is a modeling device for stiff links and rigid offsets, not a real material.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307782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441751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RIGID in the solver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76498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simply use E = 1e6 in the stiffness matrix; a 34:1 stiffness ratio to steel is fine, but combine it with tiny members and the matrix becomes ill-conditioned. Better: implement rigid links as constraint equations, or cap E at 1,000× the stiffest real material.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Solver Rev.2 should consume the library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852160" cy="4846320"/>
          </a:xfrm>
          <a:prstGeom prst="roundRect">
            <a:avLst>
              <a:gd name="adj" fmla="val 1887"/>
            </a:avLst>
          </a:prstGeom>
          <a:solidFill>
            <a:srgbClr val="23243A"/>
          </a:solidFill>
          <a:ln w="12700">
            <a:solidFill>
              <a:srgbClr val="2324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dataclasses import dataclass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Material: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str; category: str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E: float; nu: float; density: float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alpha: float; G: float | None = None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Fy: float | None = None; Fu: float | None = None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__post_init__(self):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self.G is None:            # isotropic rule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self.G = self.E / (2 * (1 + self.nu))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self.alpha *= 1e-5           # RISA stores 1e-5/degF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pd.read_excel('RISA_Materials_Library_Imperial.xlsx',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sheet_name='All Materials', header=3)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 = {r['Label']: Material(r['Label'], r['Category'],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r['E [ksi]'], r['Nu'], r['Density [k/ft³]'],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r['Therm. Coeff. [1e-5/°F]'], r['G [ksi]'])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for _, r in df.iterrows() if isinstance(r['Label'], str)}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675120" y="1371600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do not retype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1655064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 Materials sheet is the single source. Category + Label is the key; the eight tab sheets stay as the audit trail against the screenshots.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340864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7512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2295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G, do not store it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624328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28 RISA values satisfy G = E / 2(1+ν) within 0.1%; only aluminum's fixed 3,787.5 ksi differs, by 0.25% to 1.2%. Deriving removes one column that can drift.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3310128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units once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59359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kip-inch internally or switch to kN-m at load time. Never mix inside a stiffness matrix. The Metric twin of this library is the same rows converted.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4279392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751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4233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analysis from design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4562856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G, ν, γ, α feed the solver. Fy, Fu, f'c, f'm, Ry, Rt feed a later code-check module.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5248656"/>
            <a:ext cx="457200" cy="45720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512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52029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269480" y="553212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 from f'c; masonry weight from block and grout; wood E from an NDS lookup; RIGID as a constraint.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3840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Transcription checks and caveats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Solver Rev.2  |  Material Library, Imperial  |  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AF2E3"/>
          </a:solidFill>
          <a:ln w="12700">
            <a:solidFill>
              <a:srgbClr val="EAF2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35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source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 values reproduce ACI 318 Eq. 19.2.2.1(a) to the nearest ksi for all six mixes.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E equals 900 f'm (concrete) and 700 f'm (clay) exactly.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Cold-formed G = 29,500 / 2.6 = 11,346 ksi. Hot-rolled G = 29,000 / 2.6 = 11,154 ksi.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28 tabulated G values agree with E / 2(1+ν) within 0.1%; aluminum's fixed 3,787.5 ksi (= 3E/8) is the exception.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3258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DF5E4"/>
          </a:solidFill>
          <a:ln w="12700">
            <a:solidFill>
              <a:srgbClr val="FDF5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4356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as displayed, with a flag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83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Stainless SS1: SI magnitudes under ksi headers. Do not use until the unit basis is confirmed in RISA.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RIGID: G is blank in RISA and left blank in the workbook.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gen_Alum (E 10,600, α 1.29) differs slightly from the Aluminum tab (10,100, 1.3). Both kept as shown.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67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reconstructed where the screen cut them off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rows 7 to 12 read "24F-1.8E DF..." and "LVL-PRL Co..." on screen. Full labels were rebuilt from the Species column (24F-1.8E DF_BAL, LVL-PRL 1.5E_2250F, and so 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row 6 reads "6061-T6..."; its strengths (Ftu 24, Fty 15 ksi) are the welded 6061-T6 values, so it is labelled 6061-T6 (welded).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657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ECF8"/>
          </a:solidFill>
          <a:ln w="12700">
            <a:solidFill>
              <a:srgbClr val="F1EC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37673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RISA_Materials_Library_Imperial.xlsx gives you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114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these notes.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sheet per RISA tab, transcribed inputs in blue, formula check columns for 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Self Weight dialog captured on the Masonry sheet.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Materials: flat table of 41 rows, filterable.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every column, its meaning and its use in the solver.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file: RISA_Materials_Library_Metric.xlsx, same rows in MPa and kN/m³.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029200" cy="5029200"/>
          </a:xfrm>
          <a:prstGeom prst="ellipse">
            <a:avLst/>
          </a:prstGeom>
          <a:solidFill>
            <a:srgbClr val="5B2A86">
              <a:alpha val="45000"/>
            </a:srgbClr>
          </a:solidFill>
          <a:ln w="12700">
            <a:solidFill>
              <a:srgbClr val="5B2A86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Rev.2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Materials into a Material dataclass; derive G; convert 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6 m cube with A992 and Conc4000NW; compare deflections with RISA.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concrete E rule, masonry wall weight, and an NDS wood lookup.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2F3050"/>
          </a:solidFill>
          <a:ln w="12700">
            <a:solidFill>
              <a:srgbClr val="2F30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5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34747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Stainless unit basis in RISA and update the row in both libraries.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the Materials folder: RISA_Materials_Library_Imperial.xlsx and this deck, with the Metric twin alongside. Source screenshots remain the authority.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Library (Imperial) for Python Solver Rev.2</dc:title>
  <dc:subject>PptxGenJS Presentation</dc:subject>
  <dc:creator>Mark Airol Escranda</dc:creator>
  <cp:lastModifiedBy>Mark Airol Escranda</cp:lastModifiedBy>
  <cp:revision>1</cp:revision>
  <dcterms:created xsi:type="dcterms:W3CDTF">2026-09-08T02:09:11Z</dcterms:created>
  <dcterms:modified xsi:type="dcterms:W3CDTF">2026-09-08T02:09:11Z</dcterms:modified>
</cp:coreProperties>
</file>