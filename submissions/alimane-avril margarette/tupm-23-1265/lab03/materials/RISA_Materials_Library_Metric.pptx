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nine screenshots in the Materials folder. Companion workbook: RISA_Materials_Library_Metric.xlsx.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1F5C3A">
              <a:alpha val="45000"/>
            </a:srgbClr>
          </a:solidFill>
          <a:ln w="12700">
            <a:solidFill>
              <a:srgbClr val="1F5C3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3840480" cy="3840480"/>
          </a:xfrm>
          <a:prstGeom prst="ellipse">
            <a:avLst/>
          </a:prstGeom>
          <a:solidFill>
            <a:srgbClr val="D9950A">
              <a:alpha val="30000"/>
            </a:srgbClr>
          </a:solidFill>
          <a:ln w="12700">
            <a:solidFill>
              <a:srgbClr val="D9950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Library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Metric units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RISA-3D material tables as the reference for Python Solver Rev.2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material tabs, 41 materials, one masonry self-weight rule, in MPa, kN/m³ and °C. Converted from the RISA Imperial display with 1 ksi = 6.894757 MPa and 1 k/ft³ = 157.0875 kN/m³. What every column means, how the numbers were derived, and how the solver should consume them.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Airol Escranda  |  Numerical Methods, Lab 03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material properties enter the solver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stiffness solver never uses a material name. It uses four numbers, and a fifth for loads. Everything on the eight RISA tabs exists to supply these.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of elasticity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term EA/L and bending terms 12EI/L³, 6EI/L², 4EI/L in the member stiffness matrix. Also plate membrane stiffness.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8892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1800" y="2194560"/>
            <a:ext cx="731520" cy="73152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modulus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stiffness GJ/L, and the shear-deformation correction on deep members. Isotropic rule: G = E / 2(1+ν).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080" y="2194560"/>
            <a:ext cx="731520" cy="73152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Poisson's ratio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 to E and sets the in-plane coupling of plate and shell elements.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52360" y="2194560"/>
            <a:ext cx="731520" cy="73152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weight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Self-weight load: w = γ · A per unit length. Converted to nodal forces in the load vector.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0976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92640" y="2194560"/>
            <a:ext cx="731520" cy="73152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926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coefficient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9264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strain α·ΔT, turned into equivalent member end forces for temperature load cases.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(Fy, Fu, f'c, f'm, Ftu) do not change the stiffness solution. They belong to the design-check layer that sits on top of the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at a glance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tabs in RISA-3D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transcribed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properties shared by every tab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384048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columns beyond the shared five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A36, A572, A992, A500 steels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Fu, Ry,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A570_33, A607_C1_55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sawn, glulam, LVL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Database, Species, Grade, Cm, Ci, Emod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 to 27.6 MPa, normal and lightweight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f'c, Lambda, Flex Steel, Shear Steel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and clay 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f'm, Flex Steel, Shear Steel, Self Weight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3003, 5052, 6061, 6063 alloys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B.4, kt, Ftu, Fty, Fcy, Fsu, 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(Ramberg-Osgood), 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concrete, aluminum, steel, RIGID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shared columns, and their units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377440"/>
                <a:gridCol w="5212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N/mm²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of 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MPa = 0.1450377 ksi. Steel 199,948 MPa = 29,000 ksi (codes round to 200 GPa).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N/mm²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modulus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from E and ν when blank; tabulated G agrees within 0.1% on 22 of 28 rows.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0.30, concrete 0.15, masonry 0.25, aluminum 0.33, wood 0.30.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Therm. Coeff.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10⁻⁶ per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of thermal expansion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by 1e-6 first: steel 11.7 → 11.7e-6 /°C (= 6.5e-6 /°F).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weight for self-weight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density kg/m³ = kN/m³ × 1000 / 9.80665. Steel 76.97 kN/m³ = 7,849 kg/m³.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538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strategy for the solver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86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library is the Standard Metric twin of the Imperial one: every value converted from the RISA display with factors derived from 1 in = 25.4 mm and 1 lbf = 4.4482216152605 N. Work in kN and m internally (E in kPa) or N and mm (E in MPa), never a mixture.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mixed-unit row is the classic silent error; the Stainless tab shows what that looks like.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26480" y="34290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35387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 built into the workbook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886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 with a G column carries a formula column: G_calc = E / 2(1+ν), and the percentage difference from the tabulated 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the 28 rows with a G value agree within 0.1%. The six aluminum rows carry a fixed 26,114 MPa, which is 3E/8 with E = 69,637 (ν = 1/3 exactly), so they sit 0.25% off, and 1.2% off for 5052 with its E of 70,327.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Rolled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A36 Gr.36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A572 Gr.50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 Gr.42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 Gr.46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127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Materials-SS-Hot-Rolled-TAB.png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ASTM grades. Stiffness is identical across all of them: E = 199,948 MPa (200 GPa), G = 76,904 MPa, ν = 0.30, γ = 76.97 kN/m³.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strength columns differ. A36 yields at 248.2 MPa; A572 Gr.50 and A992 at 344.7 MPa (NSCP Grade 345); A500 tube steels at 289.6 and 317.2 MPa. Fu is 399.9 MPa throughout.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 and Rt are the AISC 341 expected-strength ratios. Ry × Fy is the expected yield (A36: 1.5 × 248.2 = 372 MPa), used when a seismic design must guarantee that a brace or link yields before its connection.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one stiffness set, five design labels. The material dictionary can share E, G, ν and vary only Fy, Fu, Ry, Rt.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520440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36301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weight check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9776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76.97 kN/m³ ÷ 9.80665 × 1000 = 7,849 kg/m³, the handbook 7,850 kg/m³ of structural steel. A W310×39 (A = 4,930 mm²) weighs 76.97 × 4,930e-6 = 0.379 kN/m = 38.7 kg/m, matching its designation.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Formed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677179"/>
                <a:gridCol w="677179"/>
                <a:gridCol w="677179"/>
                <a:gridCol w="677179"/>
                <a:gridCol w="677179"/>
                <a:gridCol w="677179"/>
                <a:gridCol w="677179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A570_33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A607_C1_55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23865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Materials-SS-Cold-Formed-TAB.png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sheet-steel grades used for light-gauge framing: A570 Gr.33 (Fy 227.5, Fu 358.5 MPa) and A607 Class 1 Gr.55 (Fy 379.2, Fu 482.6 MPa).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different modulus: E = 203,395 MPa, not 199,948. AISI S100 specifies 29,500 ksi (203.4 GPa) for cold-formed members, and G = 78,228 MPa follows from E / 2(1.3).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Ry or Rt columns. Cold-formed design under AISI does not use the AISC expected-strength factors.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keep this tab separate from Hot Rolled even though the numbers look alike. A 1.7% difference in E is real and shows up in deflections.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79776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288950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203,395 matters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23697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is proportional to 1/E, so swapping in 200,000 MPa overstates cold-formed deflection by 1.7%. Small, but it is the kind of drift that makes a solver disagree with RISA on a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  <a:gridCol w="526694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f'c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 Steel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Steel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Conc3000NW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Conc3500NW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Conc4000NW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Conc3000LW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Conc3500LW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Conc4000LW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3741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Materials-SS-Concrete-TAB.png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mixes: f'c = 20.7, 24.1 and 27.6 MPa (3,000 to 4,000 psi), each in normal weight (22.78 kN/m³, λ = 1.0) and lightweight (17.28 kN/m³, λ = 0.75).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not typed in; it is derived from f'c and density with ACI 318 / NSCP Eq. 19.2.2.1(a) in SI:  Ec = 0.043 · wc¹·⁵ · √f'c, with wc in kg/m³ and f'c in MPa.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0.043 × 2323¹·⁵ × √20.7 = 21,900 MPa against 21,760 tabulated; the 0.6% gap is the rounding of 0.043 (exact: 0.0428). Lightweight: 0.043 × 1762¹·⁵ × √20.7 = 14,470 vs 14,376.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0.15 for all mixes, so G = E / 2.3. Flex Steel and Shear Steel (413.7 MPa) are the Grade 60 rebar yield, NSCP Grade 420, used by the design layer only.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3767328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38770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the solver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2245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f'c and γ as the inputs and compute E on load. To reproduce RISA exactly, convert to Imperial, apply E = wc^1.5 × 33 × √f'c (psi), and convert back; the SI 0.043 coefficient alone lands 0.6% high.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Masonry, and how its self-weight is computed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400800" cy="914400"/>
        </p:xfrm>
        <a:graphic>
          <a:graphicData uri="http://schemas.openxmlformats.org/drawingml/2006/table">
            <a:tbl>
              <a:tblPr/>
              <a:tblGrid>
                <a:gridCol w="1792224"/>
                <a:gridCol w="576072"/>
                <a:gridCol w="576072"/>
                <a:gridCol w="576072"/>
                <a:gridCol w="576072"/>
                <a:gridCol w="576072"/>
                <a:gridCol w="576072"/>
                <a:gridCol w="576072"/>
                <a:gridCol w="57607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Weight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f'm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 Steel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Steel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Matl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Matl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2386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Materials-SS-Masonry-TAB.png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93776" y="2770632"/>
            <a:ext cx="3035808" cy="213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Masonry-Self-Weight-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25496"/>
            <a:ext cx="2926080" cy="202772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96294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Masonry-Self-Weight-WND.png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749040" y="2825496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931920" y="29352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Weight = Custom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931920" y="3282696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does not carry a density. Instead the dialog selects "Using Block and Grout Properties": block material 115 pcf (18.07 kN/m³), grout 140 pcf (21.99 kN/m³).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weight then depends on block thickness and grout spacing. The greyed-out alternative is a uniform 12.57 kN/m³ (80 pcf).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223760" y="132588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assemblies: concrete masonry (E 9,308 MPa) and clay masonry (E 7,239 MPa), both with f'm = 10.3 MPa and ν = 0.25.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follows TMS 402: Em = 900 f'm for concrete masonry (900 × 10.34 = 9,308) and 700 f'm for clay (700 × 10.34 = 7,239). G = 0.4 Em = 3,723 and 2,896 MPa, which also equals E / 2(1.25).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masonry needs a wall-panel weight routine, not a scalar density. Simplest faithful implementation: weight per area = f(block thickness, block density, grout density, grout spacing) from the NCMA tables, with 12.57 kN/m³ as the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2011680"/>
                <a:gridCol w="640080"/>
                <a:gridCol w="685800"/>
                <a:gridCol w="68580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DF/SPine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Species Group I DF,SP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HF/Spruce Fir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Species Group II HF,SPF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Douglas Fir-Larch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 Pine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Hem-Fir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Spruce-Pine-fir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 DF_BAL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Glulam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24F-1.8E_DF_BAL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 DF_UNBAL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Glulam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24F-1.8E_DF_UNBAL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 SP_BAL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Glulam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24F-1.8E_SP_BAL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 SP_UNBAL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Glulam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24F-1.8E_SP_UNBAL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LVL-PRL 1.5E_2250F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LVL_PRL_1.5E_2250F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LVL-PRL 2.0E_2900F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LVL_PRL_2.0E_2900F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4165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Materials-SS-Wood-TAB.png (labels in rows 7 to 12 truncated on screen; reconstructed from Species)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entries in three families: six visually graded solid-sawn species (No.1), four 24F-1.8E glulam layups from NDS Table 5A (balanced and unbalanced, DF and SP), and two custom LVL products (1.5E-2250F, 2.0E-2900F).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stores keys, not stiffness. E, Fb, Fv and Fc are looked up in the NDS Supplement by Type, Database, Species and Grade; Emod (1.0) scales the tabulated E, and Cm / Ci apply wet-service and incising factors when checked (none are).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values: ν = 0.30, α = 5.4 × 1e-6 /°C, γ = 5.50 kN/m³ (561 kg/m³).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wood needs a lookup layer. Until the NDS table is loaded, a placeholder E (for example 11,700 MPa for No.1 DF-L) keeps the model solvable.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809744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9194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glulam label decoded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26694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24F-1.8E: allowable bending stress 2,400 psi (16.5 MPa) and E = 1.8 × 10⁶ psi = 12,411 MPa. BAL and UNBAL mark balanced or unbalanced layups; DF and SP are Douglas Fir and Southern Pine laminations.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Aluminum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894637"/>
                <a:gridCol w="541325"/>
                <a:gridCol w="541325"/>
                <a:gridCol w="541325"/>
                <a:gridCol w="541325"/>
                <a:gridCol w="541325"/>
                <a:gridCol w="541325"/>
                <a:gridCol w="541325"/>
                <a:gridCol w="541325"/>
                <a:gridCol w="541325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Fty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Fcy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3003-H14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6061-T6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6063-T5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6063-T6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5052-H34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6061-T6 (welded)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3741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Materials-SS-Aluminum-TAB.png (row 6 truncated on screen; strengths match welded 6061-T6)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alloy-tempers: 3003-H14, 5052-H34, 6061-T6 (plain and welded), 6063-T5 and 6063-T6.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is nearly constant: E = 69,637 MPa (70,327 for 5052), G = 26,114 MPa for every row (3E/8, the ADM value for ν = 1/3), ν = 0.33, γ = 27.18 kN/m³ (2,771 kg/m³), α = 23.4 × 1e-6 /°C, twice that of steel.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columns follow the Aluminum Design Manual: Ftu, Fty (tension), Fcy (compression), Fsu (shear), with kt = 1.0 and the buckling constants taken from Table B.4-1 or B.4-2 depending on temper. Ct = 141 is the compression constant.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halves the strength but not the stiffness: 6061-T6 drops from Fty 241.3 to 103.4 MPa in the welded row while E stays at 69,637 MPa.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67328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38770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note for the solver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22452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expands at 23.4e-6 /°C versus 11.7e-6 for steel. A 12 m aluminum member under a 33 °C rise grows 9.3 mm; the same steel member grows 4.6 mm. Thermal load cases must read α per material, not a global constant.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Stainless: one row, and a unit trap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960120"/>
                <a:gridCol w="502920"/>
                <a:gridCol w="685800"/>
                <a:gridCol w="685800"/>
                <a:gridCol w="457200"/>
                <a:gridCol w="685800"/>
                <a:gridCol w="6400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74,325.48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21396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Materials-SS-Stainless-TAB.png (carried over unconverted)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32888"/>
          <a:ext cx="6766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92024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in RISA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1.931e+5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ksi (6.7× steel)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MPa = 28,000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 MPa = 30.0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 MPa = 75.0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8,009 pcf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g/cm³ (specific gravity of stainless)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SS1 is the only stainless entry. In RISA its values sit under ksi headers but are SI magnitudes: 30 ksi yield and 75 ksi ultimate are the textbook Type 304 values, and 193 GPa is its modulus.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Metric library therefore carries the row over unconverted (E 193,100 MPa, Fy 206.8 MPa, Fu 517.1 MPa). Density 8.009 and thermal 1.674 are kept as displayed; the likely readings are 8.0 g/cm³ (78.5 kN/m³) and 16.7e-6 /°C.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5.6 is the Ramberg-Osgood exponent, the one property unique to this tab. Stainless has no sharp yield, so RISA models the stress-strain curve as ε = σ/E + 0.002 (σ/Fy)ⁿ.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row as a caution, not a value, until the unit basis is confirmed in RISA. The workbook flags it on the Stainless and All Materials sheets.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materials and the RIGID link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777240"/>
                <a:gridCol w="502920"/>
                <a:gridCol w="868680"/>
                <a:gridCol w="685800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gen_Conc3NW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gen_Conc4NW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gen_Conc3LW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gen_Conc4LW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gen_Alum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gen_Steel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6,894,757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6210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 Materials-SS-General-TAB.png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1325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generic entries for plates, solids and quick models: four concretes (20.7 and 27.6 MPa, normal and lightweight), one aluminum, one steel, and RIGID.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gen_Conc3NW (E 21,753) and gen_Conc4NW (E 25,124) mirror the Concrete tab values within 7 MPa; gen_Alum uses E 73,084 MPa and α 23.2, slightly different from the Aluminum tab.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Methodology = Isotropic for every entry: the same E in every in-plane direction, which is what the solver's plate stiffness should assume.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has E = 6,894,757 MPa (1e+6 ksi), no G, and zero density and thermal coefficient. It is a modeling device for stiff links and rigid offsets, not a real material.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4014216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1239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RIGID in the solver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47141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use E = 6.9e6 MPa in the stiffness matrix; a 34:1 stiffness ratio to steel is fine, but combine it with tiny members and the matrix becomes ill-conditioned. Better: implement rigid links as constraint equations, or cap E at 1,000× the stiffest real material.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Solver Rev.2 should consume the library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852160" cy="4846320"/>
          </a:xfrm>
          <a:prstGeom prst="roundRect">
            <a:avLst>
              <a:gd name="adj" fmla="val 1887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dataclasses import 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Material: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str; category: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E: float; nu: float; density: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alpha: float; G: float | None = None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Fy: float | None = None; Fu: float | None = None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__post_init__(self):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self.G is None:            # isotropic 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self.G = self.E / (2 * (1 + self.nu))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self.alpha *= 1e-6           # library stores 1e-6/degC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pd.read_excel('RISA_Materials_Library_Metric.xlsx',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sheet_name='All Materials', header=3)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 = {r['Label']: Material(r['Label'], r['Category'],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r['E [MPa]'], r['Nu'], r['Density [kN/m³]'],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r['Therm. Coeff. [1e-6/°C]'], r['G [MPa]'])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 _, r in df.iterrows() if isinstance(r['Label'], str)}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do not retype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16550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 Materials sheet is the single source. Category + Label is the key; the eight tab sheets stay as the audit trail against the screenshots.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340864"/>
            <a:ext cx="457200" cy="45720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2295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G, do not store it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6243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RISA values satisfy G = E / 2(1+ν) within 0.1%; only aluminum's fixed 26,114 MPa differs, by 0.25% to 1.2%. Deriving removes one column that can drift.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3310128"/>
            <a:ext cx="457200" cy="45720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units once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5935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N-mm (E in MPa) or kN-m (E in kPa) internally. Never mix inside a stiffness matrix. The Imperial twin of this library is the RISA original.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4279392"/>
            <a:ext cx="457200" cy="45720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4233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analysis from design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4562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G, ν, γ, α feed the solver. Fy, Fu, f'c, f'm, Ry, Rt feed a later code-check module.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5248656"/>
            <a:ext cx="457200" cy="457200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512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52029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69480" y="55321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from f'c; masonry weight from block and grout; wood E from an NDS lookup; RIGID as a constraint.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Transcription checks and caveats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Standard Metric  | 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source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values reproduce ACI 318 Eq. 19.2.2.1(a) (Imperial form) to the nearest ksi for all six mixes.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E equals 900 f'm (concrete) and 700 f'm (clay) exactly.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Cold-formed G = 203,395 / 2.6 = 78,229 MPa. Hot-rolled G = 199,948 / 2.6 = 76,903 MPa.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tabulated G values agree with E / 2(1+ν) within 0.1%; aluminum's fixed 26,114 MPa (= 3E/8) is the exception.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displayed, with a flag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SS1: carried over unconverted because the RISA display is already SI. Density and thermal kept as displayed; confirm before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RIGID: G is blank in RISA and left blank in the workbook.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gen_Alum (E 73,084, α 23.2) differs slightly from the Aluminum tab (69,637, 23.4). Both kept as converted.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reconstructed where the screen cut them off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rows 7 to 12 read "24F-1.8E DF..." and "LVL-PRL Co..." on screen. Full labels were rebuilt from the Species column (24F-1.8E DF_BAL, LVL-PRL 1.5E_2250F, and so 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row 6 reads "6061-T6..."; its strengths (Ftu 24, Fty 15 ksi) are the welded 6061-T6 values, so it is labelled 6061-T6 (welded).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RISA_Materials_Library_Metric.xlsx gives you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the conversion basis and these notes.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 per RISA tab in MPa, kN/m³ and 1e-6/°C, formula check columns for 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Self Weight dialog captured on the Masonry sheet.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Materials: flat table of 41 rows with mass density in kg/m³ by formula, filterable.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every column, its meaning and its use in the solver.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file: RISA_Materials_Library_Imperial.xlsx, the RISA original.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029200" cy="5029200"/>
          </a:xfrm>
          <a:prstGeom prst="ellipse">
            <a:avLst/>
          </a:prstGeom>
          <a:solidFill>
            <a:srgbClr val="1F5C3A">
              <a:alpha val="45000"/>
            </a:srgbClr>
          </a:solidFill>
          <a:ln w="12700">
            <a:solidFill>
              <a:srgbClr val="1F5C3A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Rev.2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Materials into a Material dataclass; derive G; convert 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6 m cube with A992 and Conc4000NW; compare deflections with RISA.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concrete E rule, masonry wall weight, and an NDS wood lookup.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Stainless unit basis in RISA and update the row in both libraries.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the Materials folder: RISA_Materials_Library_Metric.xlsx and this deck, with the Imperial twin alongside. Source screenshots remain the authority.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Library (Standard Metric) for Python Solver Rev.2</dc:title>
  <dc:subject>PptxGenJS Presentation</dc:subject>
  <dc:creator>Mark Airol Escranda</dc:creator>
  <cp:lastModifiedBy>Mark Airol Escranda</cp:lastModifiedBy>
  <cp:revision>1</cp:revision>
  <dcterms:created xsi:type="dcterms:W3CDTF">2026-09-08T02:09:10Z</dcterms:created>
  <dcterms:modified xsi:type="dcterms:W3CDTF">2026-09-08T02:09:10Z</dcterms:modified>
</cp:coreProperties>
</file>