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workbook: Units_Imperial_Metric.xlsx. All factors there are formulas built from 1 in = 25.4 mm, 1 lbf = 4.4482216152605 N, g = 9.80665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43A"/>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5B2A86">
              <a:alpha val="45000"/>
            </a:srgbClr>
          </a:solidFill>
          <a:ln w="12700">
            <a:solidFill>
              <a:srgbClr val="5B2A86">
                <a:alpha val="45000"/>
              </a:srgbClr>
            </a:solidFill>
            <a:prstDash val="solid"/>
          </a:ln>
        </p:spPr>
      </p:sp>
      <p:sp>
        <p:nvSpPr>
          <p:cNvPr id="3" name="Shape 1"/>
          <p:cNvSpPr/>
          <p:nvPr/>
        </p:nvSpPr>
        <p:spPr>
          <a:xfrm>
            <a:off x="9692640" y="3566160"/>
            <a:ext cx="3840480" cy="3840480"/>
          </a:xfrm>
          <a:prstGeom prst="ellipse">
            <a:avLst/>
          </a:prstGeom>
          <a:solidFill>
            <a:srgbClr val="D9950A">
              <a:alpha val="30000"/>
            </a:srgbClr>
          </a:solidFill>
          <a:ln w="12700">
            <a:solidFill>
              <a:srgbClr val="D9950A">
                <a:alpha val="30000"/>
              </a:srgbClr>
            </a:solidFill>
            <a:prstDash val="solid"/>
          </a:ln>
        </p:spPr>
      </p:sp>
      <p:sp>
        <p:nvSpPr>
          <p:cNvPr id="4" name="Shape 2"/>
          <p:cNvSpPr/>
          <p:nvPr/>
        </p:nvSpPr>
        <p:spPr>
          <a:xfrm>
            <a:off x="731520" y="1005840"/>
            <a:ext cx="822960" cy="822960"/>
          </a:xfrm>
          <a:prstGeom prst="ellipse">
            <a:avLst/>
          </a:prstGeom>
          <a:solidFill>
            <a:srgbClr val="5B2A86"/>
          </a:solidFill>
          <a:ln/>
        </p:spPr>
      </p:sp>
      <p:pic>
        <p:nvPicPr>
          <p:cNvPr id="5" name="Image 0" descr="preencoded.png">    </p:cNvPr>
          <p:cNvPicPr>
            <a:picLocks noChangeAspect="1"/>
          </p:cNvPicPr>
          <p:nvPr/>
        </p:nvPicPr>
        <p:blipFill>
          <a:blip r:embed="rId1"/>
          <a:stretch>
            <a:fillRect/>
          </a:stretch>
        </p:blipFill>
        <p:spPr>
          <a:xfrm>
            <a:off x="914400" y="1188720"/>
            <a:ext cx="457200" cy="457200"/>
          </a:xfrm>
          <a:prstGeom prst="rect">
            <a:avLst/>
          </a:prstGeom>
        </p:spPr>
      </p:pic>
      <p:sp>
        <p:nvSpPr>
          <p:cNvPr id="6" name="Text 3"/>
          <p:cNvSpPr txBox="1"/>
          <p:nvPr/>
        </p:nvSpPr>
        <p:spPr>
          <a:xfrm>
            <a:off x="731520" y="201168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Units</a:t>
            </a:r>
            <a:endParaRPr lang="en-US" sz="4800" dirty="0"/>
          </a:p>
        </p:txBody>
      </p:sp>
      <p:sp>
        <p:nvSpPr>
          <p:cNvPr id="7" name="Text 4"/>
          <p:cNvSpPr txBox="1"/>
          <p:nvPr/>
        </p:nvSpPr>
        <p:spPr>
          <a:xfrm>
            <a:off x="731520" y="2926080"/>
            <a:ext cx="7772400" cy="822960"/>
          </a:xfrm>
          <a:prstGeom prst="rect">
            <a:avLst/>
          </a:prstGeom>
          <a:noFill/>
          <a:ln/>
        </p:spPr>
        <p:txBody>
          <a:bodyPr wrap="square" lIns="0" tIns="0" rIns="0" bIns="0" rtlCol="0" anchor="ctr"/>
          <a:lstStyle/>
          <a:p>
            <a:pPr indent="0" marL="0">
              <a:buNone/>
            </a:pPr>
            <a:r>
              <a:rPr lang="en-US" sz="2200" dirty="0">
                <a:solidFill>
                  <a:srgbClr val="CFC7E2"/>
                </a:solidFill>
                <a:latin typeface="Calibri" pitchFamily="34" charset="0"/>
                <a:ea typeface="Calibri" pitchFamily="34" charset="-122"/>
                <a:cs typeface="Calibri" pitchFamily="34" charset="-120"/>
              </a:rPr>
              <a:t>Imperial and Standard Metric for Python Solver Rev.2</a:t>
            </a:r>
            <a:endParaRPr lang="en-US" sz="2200" dirty="0"/>
          </a:p>
        </p:txBody>
      </p:sp>
      <p:sp>
        <p:nvSpPr>
          <p:cNvPr id="8" name="Text 5"/>
          <p:cNvSpPr txBox="1"/>
          <p:nvPr/>
        </p:nvSpPr>
        <p:spPr>
          <a:xfrm>
            <a:off x="731520" y="3931920"/>
            <a:ext cx="7315200" cy="914400"/>
          </a:xfrm>
          <a:prstGeom prst="rect">
            <a:avLst/>
          </a:prstGeom>
          <a:noFill/>
          <a:ln/>
        </p:spPr>
        <p:txBody>
          <a:bodyPr wrap="square" lIns="0" tIns="0" rIns="0" bIns="0" rtlCol="0" anchor="ctr"/>
          <a:lstStyle/>
          <a:p>
            <a:pPr indent="0" marL="0">
              <a:buNone/>
            </a:pPr>
            <a:r>
              <a:rPr lang="en-US" sz="1400" dirty="0">
                <a:solidFill>
                  <a:srgbClr val="A9A6B8"/>
                </a:solidFill>
                <a:latin typeface="Calibri" pitchFamily="34" charset="0"/>
                <a:ea typeface="Calibri" pitchFamily="34" charset="-122"/>
                <a:cs typeface="Calibri" pitchFamily="34" charset="-120"/>
              </a:rPr>
              <a:t>What RISA and STAAD mean by each unit set, the exact definitions every conversion rests on, the material library in both systems, and the rule that keeps a stiffness matrix consistent.</a:t>
            </a:r>
            <a:endParaRPr lang="en-US" sz="1400" dirty="0"/>
          </a:p>
        </p:txBody>
      </p:sp>
      <p:sp>
        <p:nvSpPr>
          <p:cNvPr id="9" name="Text 6"/>
          <p:cNvSpPr txBox="1"/>
          <p:nvPr/>
        </p:nvSpPr>
        <p:spPr>
          <a:xfrm>
            <a:off x="731520" y="5943600"/>
            <a:ext cx="8229600" cy="365760"/>
          </a:xfrm>
          <a:prstGeom prst="rect">
            <a:avLst/>
          </a:prstGeom>
          <a:noFill/>
          <a:ln/>
        </p:spPr>
        <p:txBody>
          <a:bodyPr wrap="square" lIns="0" tIns="0" rIns="0" bIns="0" rtlCol="0" anchor="ctr"/>
          <a:lstStyle/>
          <a:p>
            <a:pPr indent="0" marL="0">
              <a:buNone/>
            </a:pPr>
            <a:r>
              <a:rPr lang="en-US" sz="1200" dirty="0">
                <a:solidFill>
                  <a:srgbClr val="A9A6B8"/>
                </a:solidFill>
                <a:latin typeface="Calibri" pitchFamily="34" charset="0"/>
                <a:ea typeface="Calibri" pitchFamily="34" charset="-122"/>
                <a:cs typeface="Calibri" pitchFamily="34" charset="-120"/>
              </a:rPr>
              <a:t>Mark Airol Escranda  |  Numerical Methods, Lab 03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A solver is only as right as its units</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2</a:t>
            </a:r>
            <a:endParaRPr lang="en-US" sz="1000" dirty="0"/>
          </a:p>
        </p:txBody>
      </p:sp>
      <p:sp>
        <p:nvSpPr>
          <p:cNvPr id="6" name="Text 3"/>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400" dirty="0">
                <a:solidFill>
                  <a:srgbClr val="5F6068"/>
                </a:solidFill>
                <a:latin typeface="Calibri" pitchFamily="34" charset="0"/>
                <a:ea typeface="Calibri" pitchFamily="34" charset="-122"/>
                <a:cs typeface="Calibri" pitchFamily="34" charset="-120"/>
              </a:rPr>
              <a:t>The stiffness method is unit-blind: it multiplies whatever numbers it is handed. Consistency is the only rule, and every unit error is silent until a deflection looks absurd.</a:t>
            </a:r>
            <a:endParaRPr lang="en-US" sz="1400" dirty="0"/>
          </a:p>
        </p:txBody>
      </p:sp>
      <p:sp>
        <p:nvSpPr>
          <p:cNvPr id="7" name="Shape 4"/>
          <p:cNvSpPr/>
          <p:nvPr/>
        </p:nvSpPr>
        <p:spPr>
          <a:xfrm>
            <a:off x="548640" y="2011680"/>
            <a:ext cx="3566160" cy="1920240"/>
          </a:xfrm>
          <a:prstGeom prst="roundRect">
            <a:avLst>
              <a:gd name="adj" fmla="val 3810"/>
            </a:avLst>
          </a:prstGeom>
          <a:solidFill>
            <a:srgbClr val="F1ECF8"/>
          </a:solidFill>
          <a:ln w="12700">
            <a:solidFill>
              <a:srgbClr val="F1ECF8"/>
            </a:solidFill>
            <a:prstDash val="solid"/>
          </a:ln>
        </p:spPr>
      </p:sp>
      <p:sp>
        <p:nvSpPr>
          <p:cNvPr id="8" name="Text 5"/>
          <p:cNvSpPr txBox="1"/>
          <p:nvPr/>
        </p:nvSpPr>
        <p:spPr>
          <a:xfrm>
            <a:off x="731520" y="2121408"/>
            <a:ext cx="3200400" cy="329184"/>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The rule</a:t>
            </a:r>
            <a:endParaRPr lang="en-US" sz="1400" dirty="0"/>
          </a:p>
        </p:txBody>
      </p:sp>
      <p:sp>
        <p:nvSpPr>
          <p:cNvPr id="9" name="Text 6"/>
          <p:cNvSpPr txBox="1"/>
          <p:nvPr/>
        </p:nvSpPr>
        <p:spPr>
          <a:xfrm>
            <a:off x="731520" y="2468880"/>
            <a:ext cx="3200400" cy="137160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Pick one force unit F and one length unit L. Then E is F/L², A is L², I is L⁴, loads are F or F/L, and every stiffness term (EA/L, EI/L³, GJ/L) comes out in F/L or F·L/rad without any factor inside the matrix.</a:t>
            </a:r>
            <a:endParaRPr lang="en-US" sz="1200" dirty="0"/>
          </a:p>
        </p:txBody>
      </p:sp>
      <p:sp>
        <p:nvSpPr>
          <p:cNvPr id="10" name="Shape 7"/>
          <p:cNvSpPr/>
          <p:nvPr/>
        </p:nvSpPr>
        <p:spPr>
          <a:xfrm>
            <a:off x="4297680" y="2011680"/>
            <a:ext cx="3566160" cy="1920240"/>
          </a:xfrm>
          <a:prstGeom prst="roundRect">
            <a:avLst>
              <a:gd name="adj" fmla="val 3810"/>
            </a:avLst>
          </a:prstGeom>
          <a:solidFill>
            <a:srgbClr val="F1ECF8"/>
          </a:solidFill>
          <a:ln w="12700">
            <a:solidFill>
              <a:srgbClr val="F1ECF8"/>
            </a:solidFill>
            <a:prstDash val="solid"/>
          </a:ln>
        </p:spPr>
      </p:sp>
      <p:sp>
        <p:nvSpPr>
          <p:cNvPr id="11" name="Text 8"/>
          <p:cNvSpPr txBox="1"/>
          <p:nvPr/>
        </p:nvSpPr>
        <p:spPr>
          <a:xfrm>
            <a:off x="4480560" y="2121408"/>
            <a:ext cx="3200400" cy="329184"/>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What RISA does</a:t>
            </a:r>
            <a:endParaRPr lang="en-US" sz="1400" dirty="0"/>
          </a:p>
        </p:txBody>
      </p:sp>
      <p:sp>
        <p:nvSpPr>
          <p:cNvPr id="12" name="Text 9"/>
          <p:cNvSpPr txBox="1"/>
          <p:nvPr/>
        </p:nvSpPr>
        <p:spPr>
          <a:xfrm>
            <a:off x="4480560" y="2468880"/>
            <a:ext cx="3200400" cy="137160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Displays any unit set you like but stores one internally and converts at the boundary. The Materials tabs show ksi and k/ft³ because the model was in the Imperial set. Switch the set and the same numbers appear as MPa and kN/m³.</a:t>
            </a:r>
            <a:endParaRPr lang="en-US" sz="1200" dirty="0"/>
          </a:p>
        </p:txBody>
      </p:sp>
      <p:sp>
        <p:nvSpPr>
          <p:cNvPr id="13" name="Shape 10"/>
          <p:cNvSpPr/>
          <p:nvPr/>
        </p:nvSpPr>
        <p:spPr>
          <a:xfrm>
            <a:off x="8046720" y="2011680"/>
            <a:ext cx="3566160" cy="1920240"/>
          </a:xfrm>
          <a:prstGeom prst="roundRect">
            <a:avLst>
              <a:gd name="adj" fmla="val 3810"/>
            </a:avLst>
          </a:prstGeom>
          <a:solidFill>
            <a:srgbClr val="FDF5E4"/>
          </a:solidFill>
          <a:ln w="12700">
            <a:solidFill>
              <a:srgbClr val="FDF5E4"/>
            </a:solidFill>
            <a:prstDash val="solid"/>
          </a:ln>
        </p:spPr>
      </p:sp>
      <p:sp>
        <p:nvSpPr>
          <p:cNvPr id="14" name="Text 11"/>
          <p:cNvSpPr txBox="1"/>
          <p:nvPr/>
        </p:nvSpPr>
        <p:spPr>
          <a:xfrm>
            <a:off x="8229600" y="2121408"/>
            <a:ext cx="3200400" cy="329184"/>
          </a:xfrm>
          <a:prstGeom prst="rect">
            <a:avLst/>
          </a:prstGeom>
          <a:noFill/>
          <a:ln/>
        </p:spPr>
        <p:txBody>
          <a:bodyPr wrap="square" lIns="0" tIns="0" rIns="0" bIns="0" rtlCol="0" anchor="ctr"/>
          <a:lstStyle/>
          <a:p>
            <a:pPr indent="0" marL="0">
              <a:buNone/>
            </a:pPr>
            <a:r>
              <a:rPr lang="en-US" sz="1400" b="1" dirty="0">
                <a:solidFill>
                  <a:srgbClr val="D9950A"/>
                </a:solidFill>
                <a:latin typeface="Calibri" pitchFamily="34" charset="0"/>
                <a:ea typeface="Calibri" pitchFamily="34" charset="-122"/>
                <a:cs typeface="Calibri" pitchFamily="34" charset="-120"/>
              </a:rPr>
              <a:t>What went wrong once</a:t>
            </a:r>
            <a:endParaRPr lang="en-US" sz="1400" dirty="0"/>
          </a:p>
        </p:txBody>
      </p:sp>
      <p:sp>
        <p:nvSpPr>
          <p:cNvPr id="15" name="Text 12"/>
          <p:cNvSpPr txBox="1"/>
          <p:nvPr/>
        </p:nvSpPr>
        <p:spPr>
          <a:xfrm>
            <a:off x="8229600" y="2468880"/>
            <a:ext cx="3200400" cy="137160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The Stainless SS1 row in this library reads 193,100 under a ksi header. It is 193,100 MPa. Used as ksi it would make stainless 6.7 times stiffer than steel and every deflection 85% too small.</a:t>
            </a:r>
            <a:endParaRPr lang="en-US" sz="1200" dirty="0"/>
          </a:p>
        </p:txBody>
      </p:sp>
      <p:sp>
        <p:nvSpPr>
          <p:cNvPr id="16" name="Text 13"/>
          <p:cNvSpPr txBox="1"/>
          <p:nvPr/>
        </p:nvSpPr>
        <p:spPr>
          <a:xfrm>
            <a:off x="548640" y="4297680"/>
            <a:ext cx="11064240" cy="731520"/>
          </a:xfrm>
          <a:prstGeom prst="rect">
            <a:avLst/>
          </a:prstGeom>
          <a:noFill/>
          <a:ln/>
        </p:spPr>
        <p:txBody>
          <a:bodyPr wrap="square" lIns="0" tIns="0" rIns="0" bIns="0" rtlCol="0" anchor="ctr"/>
          <a:lstStyle/>
          <a:p>
            <a:pPr indent="0" marL="0">
              <a:buNone/>
            </a:pPr>
            <a:r>
              <a:rPr lang="en-US" sz="1300" i="1" dirty="0">
                <a:solidFill>
                  <a:srgbClr val="5B2A86"/>
                </a:solidFill>
                <a:latin typeface="Calibri" pitchFamily="34" charset="0"/>
                <a:ea typeface="Calibri" pitchFamily="34" charset="-122"/>
                <a:cs typeface="Calibri" pitchFamily="34" charset="-120"/>
              </a:rPr>
              <a:t>The two sets used in practice: Imperial (kip, in, ft, ksi, °F), the RISA default and the one the Materials screenshots use; and Standard Metric (kN, m, mm, MPa, °C), the set NSCP and ASEP tables use in the Philippines.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The two unit sets, quantity by quantity</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011680"/>
                <a:gridCol w="2103120"/>
                <a:gridCol w="2103120"/>
                <a:gridCol w="1463040"/>
                <a:gridCol w="338328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Quantity</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Imperial (RISA default)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Standard Metric (SI)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Solver internal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Watch for</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Node coordinates</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RISA mixes ft for geometry, in for sections</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Section dimensions</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in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mm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AISC tables in in, ASEP tables in mm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Area / inertia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in² / in⁴</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mm² / mm⁴</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L² / L⁴</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 in⁴ = 416,231 mm⁴</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Force</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kip</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 kip = 4.448 kN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Moment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kip·ft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kN·m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STAAD may report kip·in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Stress, modulus</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MPa = N/mm²</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F/L²</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kN and mm give kN/mm² = GPa; ×1000 for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Distributed load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kip/ft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kN/m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Unit weight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k/ft³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kN/m³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F/L³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SI tables often give kg/m³; multiply by g</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Temperature change</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ΔT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Coefficient must match the ΔT unit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Thermal coefficient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1e-5 /°F</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1e-6 /°C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1/ΔT</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RISA stores the mantissa only</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Deflection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in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mm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Spring stiffness</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kip/in, kip·ft/rad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kN/m, kN·m/rad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F/L, F·L/rad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Three exact definitions, and everything follows</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4</a:t>
            </a:r>
            <a:endParaRPr lang="en-US" sz="1000" dirty="0"/>
          </a:p>
        </p:txBody>
      </p:sp>
      <p:sp>
        <p:nvSpPr>
          <p:cNvPr id="6" name="Text 3"/>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400" dirty="0">
                <a:solidFill>
                  <a:srgbClr val="5F6068"/>
                </a:solidFill>
                <a:latin typeface="Calibri" pitchFamily="34" charset="0"/>
                <a:ea typeface="Calibri" pitchFamily="34" charset="-122"/>
                <a:cs typeface="Calibri" pitchFamily="34" charset="-120"/>
              </a:rPr>
              <a:t>Every conversion factor in the workbook is a formula built from these three constants. None of the derived factors is typed in, so none can be mistyped.</a:t>
            </a:r>
            <a:endParaRPr lang="en-US" sz="1400" dirty="0"/>
          </a:p>
        </p:txBody>
      </p:sp>
      <p:sp>
        <p:nvSpPr>
          <p:cNvPr id="7" name="Shape 4"/>
          <p:cNvSpPr/>
          <p:nvPr/>
        </p:nvSpPr>
        <p:spPr>
          <a:xfrm>
            <a:off x="548640" y="1920240"/>
            <a:ext cx="3566160" cy="1463040"/>
          </a:xfrm>
          <a:prstGeom prst="roundRect">
            <a:avLst>
              <a:gd name="adj" fmla="val 6250"/>
            </a:avLst>
          </a:prstGeom>
          <a:solidFill>
            <a:srgbClr val="23243A"/>
          </a:solidFill>
          <a:ln w="12700">
            <a:solidFill>
              <a:srgbClr val="23243A"/>
            </a:solidFill>
            <a:prstDash val="solid"/>
          </a:ln>
        </p:spPr>
      </p:sp>
      <p:sp>
        <p:nvSpPr>
          <p:cNvPr id="8" name="Text 5"/>
          <p:cNvSpPr txBox="1"/>
          <p:nvPr/>
        </p:nvSpPr>
        <p:spPr>
          <a:xfrm>
            <a:off x="777240" y="2011680"/>
            <a:ext cx="1097280" cy="640080"/>
          </a:xfrm>
          <a:prstGeom prst="rect">
            <a:avLst/>
          </a:prstGeom>
          <a:noFill/>
          <a:ln/>
        </p:spPr>
        <p:txBody>
          <a:bodyPr wrap="square" lIns="0" tIns="0" rIns="0" bIns="0" rtlCol="0" anchor="ctr"/>
          <a:lstStyle/>
          <a:p>
            <a:pPr indent="0" marL="0">
              <a:buNone/>
            </a:pPr>
            <a:r>
              <a:rPr lang="en-US" sz="2800" b="1" dirty="0">
                <a:solidFill>
                  <a:srgbClr val="D9950A"/>
                </a:solidFill>
                <a:latin typeface="Cambria" pitchFamily="34" charset="0"/>
                <a:ea typeface="Cambria" pitchFamily="34" charset="-122"/>
                <a:cs typeface="Cambria" pitchFamily="34" charset="-120"/>
              </a:rPr>
              <a:t>1 in</a:t>
            </a:r>
            <a:endParaRPr lang="en-US" sz="2800" dirty="0"/>
          </a:p>
        </p:txBody>
      </p:sp>
      <p:sp>
        <p:nvSpPr>
          <p:cNvPr id="9" name="Text 6"/>
          <p:cNvSpPr txBox="1"/>
          <p:nvPr/>
        </p:nvSpPr>
        <p:spPr>
          <a:xfrm>
            <a:off x="1828800" y="2011680"/>
            <a:ext cx="2194560" cy="6400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 25.4 mm</a:t>
            </a:r>
            <a:endParaRPr lang="en-US" sz="2000" dirty="0"/>
          </a:p>
        </p:txBody>
      </p:sp>
      <p:sp>
        <p:nvSpPr>
          <p:cNvPr id="10" name="Text 7"/>
          <p:cNvSpPr txBox="1"/>
          <p:nvPr/>
        </p:nvSpPr>
        <p:spPr>
          <a:xfrm>
            <a:off x="777240" y="2743200"/>
            <a:ext cx="3200400" cy="457200"/>
          </a:xfrm>
          <a:prstGeom prst="rect">
            <a:avLst/>
          </a:prstGeom>
          <a:noFill/>
          <a:ln/>
        </p:spPr>
        <p:txBody>
          <a:bodyPr wrap="square" lIns="0" tIns="0" rIns="0" bIns="0" rtlCol="0" anchor="ctr"/>
          <a:lstStyle/>
          <a:p>
            <a:pPr indent="0" marL="0">
              <a:buNone/>
            </a:pPr>
            <a:r>
              <a:rPr lang="en-US" sz="1200" dirty="0">
                <a:solidFill>
                  <a:srgbClr val="CFC7E2"/>
                </a:solidFill>
                <a:latin typeface="Calibri" pitchFamily="34" charset="0"/>
                <a:ea typeface="Calibri" pitchFamily="34" charset="-122"/>
                <a:cs typeface="Calibri" pitchFamily="34" charset="-120"/>
              </a:rPr>
              <a:t>exact, since 1959</a:t>
            </a:r>
            <a:endParaRPr lang="en-US" sz="1200" dirty="0"/>
          </a:p>
        </p:txBody>
      </p:sp>
      <p:sp>
        <p:nvSpPr>
          <p:cNvPr id="11" name="Shape 8"/>
          <p:cNvSpPr/>
          <p:nvPr/>
        </p:nvSpPr>
        <p:spPr>
          <a:xfrm>
            <a:off x="4297680" y="1920240"/>
            <a:ext cx="3566160" cy="1463040"/>
          </a:xfrm>
          <a:prstGeom prst="roundRect">
            <a:avLst>
              <a:gd name="adj" fmla="val 6250"/>
            </a:avLst>
          </a:prstGeom>
          <a:solidFill>
            <a:srgbClr val="23243A"/>
          </a:solidFill>
          <a:ln w="12700">
            <a:solidFill>
              <a:srgbClr val="23243A"/>
            </a:solidFill>
            <a:prstDash val="solid"/>
          </a:ln>
        </p:spPr>
      </p:sp>
      <p:sp>
        <p:nvSpPr>
          <p:cNvPr id="12" name="Text 9"/>
          <p:cNvSpPr txBox="1"/>
          <p:nvPr/>
        </p:nvSpPr>
        <p:spPr>
          <a:xfrm>
            <a:off x="4526280" y="2011680"/>
            <a:ext cx="1097280" cy="640080"/>
          </a:xfrm>
          <a:prstGeom prst="rect">
            <a:avLst/>
          </a:prstGeom>
          <a:noFill/>
          <a:ln/>
        </p:spPr>
        <p:txBody>
          <a:bodyPr wrap="square" lIns="0" tIns="0" rIns="0" bIns="0" rtlCol="0" anchor="ctr"/>
          <a:lstStyle/>
          <a:p>
            <a:pPr indent="0" marL="0">
              <a:buNone/>
            </a:pPr>
            <a:r>
              <a:rPr lang="en-US" sz="2800" b="1" dirty="0">
                <a:solidFill>
                  <a:srgbClr val="D9950A"/>
                </a:solidFill>
                <a:latin typeface="Cambria" pitchFamily="34" charset="0"/>
                <a:ea typeface="Cambria" pitchFamily="34" charset="-122"/>
                <a:cs typeface="Cambria" pitchFamily="34" charset="-120"/>
              </a:rPr>
              <a:t>1 lbf</a:t>
            </a:r>
            <a:endParaRPr lang="en-US" sz="2800" dirty="0"/>
          </a:p>
        </p:txBody>
      </p:sp>
      <p:sp>
        <p:nvSpPr>
          <p:cNvPr id="13" name="Text 10"/>
          <p:cNvSpPr txBox="1"/>
          <p:nvPr/>
        </p:nvSpPr>
        <p:spPr>
          <a:xfrm>
            <a:off x="5577840" y="2011680"/>
            <a:ext cx="2194560" cy="6400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 4.448222 N</a:t>
            </a:r>
            <a:endParaRPr lang="en-US" sz="2000" dirty="0"/>
          </a:p>
        </p:txBody>
      </p:sp>
      <p:sp>
        <p:nvSpPr>
          <p:cNvPr id="14" name="Text 11"/>
          <p:cNvSpPr txBox="1"/>
          <p:nvPr/>
        </p:nvSpPr>
        <p:spPr>
          <a:xfrm>
            <a:off x="4526280" y="2743200"/>
            <a:ext cx="3200400" cy="457200"/>
          </a:xfrm>
          <a:prstGeom prst="rect">
            <a:avLst/>
          </a:prstGeom>
          <a:noFill/>
          <a:ln/>
        </p:spPr>
        <p:txBody>
          <a:bodyPr wrap="square" lIns="0" tIns="0" rIns="0" bIns="0" rtlCol="0" anchor="ctr"/>
          <a:lstStyle/>
          <a:p>
            <a:pPr indent="0" marL="0">
              <a:buNone/>
            </a:pPr>
            <a:r>
              <a:rPr lang="en-US" sz="1200" dirty="0">
                <a:solidFill>
                  <a:srgbClr val="CFC7E2"/>
                </a:solidFill>
                <a:latin typeface="Calibri" pitchFamily="34" charset="0"/>
                <a:ea typeface="Calibri" pitchFamily="34" charset="-122"/>
                <a:cs typeface="Calibri" pitchFamily="34" charset="-120"/>
              </a:rPr>
              <a:t>exact: 4.4482216152605 N = 0.45359237 kg × g</a:t>
            </a:r>
            <a:endParaRPr lang="en-US" sz="1200" dirty="0"/>
          </a:p>
        </p:txBody>
      </p:sp>
      <p:sp>
        <p:nvSpPr>
          <p:cNvPr id="15" name="Shape 12"/>
          <p:cNvSpPr/>
          <p:nvPr/>
        </p:nvSpPr>
        <p:spPr>
          <a:xfrm>
            <a:off x="8046720" y="1920240"/>
            <a:ext cx="3566160" cy="1463040"/>
          </a:xfrm>
          <a:prstGeom prst="roundRect">
            <a:avLst>
              <a:gd name="adj" fmla="val 6250"/>
            </a:avLst>
          </a:prstGeom>
          <a:solidFill>
            <a:srgbClr val="23243A"/>
          </a:solidFill>
          <a:ln w="12700">
            <a:solidFill>
              <a:srgbClr val="23243A"/>
            </a:solidFill>
            <a:prstDash val="solid"/>
          </a:ln>
        </p:spPr>
      </p:sp>
      <p:sp>
        <p:nvSpPr>
          <p:cNvPr id="16" name="Text 13"/>
          <p:cNvSpPr txBox="1"/>
          <p:nvPr/>
        </p:nvSpPr>
        <p:spPr>
          <a:xfrm>
            <a:off x="8275320" y="2011680"/>
            <a:ext cx="1097280" cy="640080"/>
          </a:xfrm>
          <a:prstGeom prst="rect">
            <a:avLst/>
          </a:prstGeom>
          <a:noFill/>
          <a:ln/>
        </p:spPr>
        <p:txBody>
          <a:bodyPr wrap="square" lIns="0" tIns="0" rIns="0" bIns="0" rtlCol="0" anchor="ctr"/>
          <a:lstStyle/>
          <a:p>
            <a:pPr indent="0" marL="0">
              <a:buNone/>
            </a:pPr>
            <a:r>
              <a:rPr lang="en-US" sz="2800" b="1" dirty="0">
                <a:solidFill>
                  <a:srgbClr val="D9950A"/>
                </a:solidFill>
                <a:latin typeface="Cambria" pitchFamily="34" charset="0"/>
                <a:ea typeface="Cambria" pitchFamily="34" charset="-122"/>
                <a:cs typeface="Cambria" pitchFamily="34" charset="-120"/>
              </a:rPr>
              <a:t>g</a:t>
            </a:r>
            <a:endParaRPr lang="en-US" sz="2800" dirty="0"/>
          </a:p>
        </p:txBody>
      </p:sp>
      <p:sp>
        <p:nvSpPr>
          <p:cNvPr id="17" name="Text 14"/>
          <p:cNvSpPr txBox="1"/>
          <p:nvPr/>
        </p:nvSpPr>
        <p:spPr>
          <a:xfrm>
            <a:off x="9326880" y="2011680"/>
            <a:ext cx="2194560" cy="6400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 9.80665 m/s²</a:t>
            </a:r>
            <a:endParaRPr lang="en-US" sz="2000" dirty="0"/>
          </a:p>
        </p:txBody>
      </p:sp>
      <p:sp>
        <p:nvSpPr>
          <p:cNvPr id="18" name="Text 15"/>
          <p:cNvSpPr txBox="1"/>
          <p:nvPr/>
        </p:nvSpPr>
        <p:spPr>
          <a:xfrm>
            <a:off x="8275320" y="2743200"/>
            <a:ext cx="3200400" cy="457200"/>
          </a:xfrm>
          <a:prstGeom prst="rect">
            <a:avLst/>
          </a:prstGeom>
          <a:noFill/>
          <a:ln/>
        </p:spPr>
        <p:txBody>
          <a:bodyPr wrap="square" lIns="0" tIns="0" rIns="0" bIns="0" rtlCol="0" anchor="ctr"/>
          <a:lstStyle/>
          <a:p>
            <a:pPr indent="0" marL="0">
              <a:buNone/>
            </a:pPr>
            <a:r>
              <a:rPr lang="en-US" sz="1200" dirty="0">
                <a:solidFill>
                  <a:srgbClr val="CFC7E2"/>
                </a:solidFill>
                <a:latin typeface="Calibri" pitchFamily="34" charset="0"/>
                <a:ea typeface="Calibri" pitchFamily="34" charset="-122"/>
                <a:cs typeface="Calibri" pitchFamily="34" charset="-120"/>
              </a:rPr>
              <a:t>standard gravity, exact by convention</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64240" cy="914400"/>
        </p:xfrm>
        <a:graphic>
          <a:graphicData uri="http://schemas.openxmlformats.org/drawingml/2006/table">
            <a:tbl>
              <a:tblPr/>
              <a:tblGrid>
                <a:gridCol w="2743200"/>
                <a:gridCol w="5120640"/>
                <a:gridCol w="32004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Derived factor</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Built from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ksi →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4448.2216 N / 25.4² mm²</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6.894757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kip → kN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4.4482216 × 1000 / 1000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4.448222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kip·ft → kN·m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4.448222 × 0.3048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1.355818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kip/ft → kN/m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4.448222 / 0.3048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14.593903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k/ft³ → kN/m³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4.448222 / 0.3048³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157.087464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k/ft³ → kg/m³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157,087 N/m³ / 9.80665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16,018.46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in⁴ → mm⁴</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25.4⁴</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416,231.43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1e-5/°F → 1e-6/°C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 1.8 × 10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E and G in both systems</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834640"/>
                <a:gridCol w="1280160"/>
                <a:gridCol w="1371600"/>
                <a:gridCol w="1280160"/>
                <a:gridCol w="1371600"/>
                <a:gridCol w="1463040"/>
                <a:gridCol w="146304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Material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 [ksi]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 [GPa]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 [ksi]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ν</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A36 / A992 steel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29,000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199,948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199.9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11,154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76,904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Cold-formed steel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29,500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203,395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203.4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11,346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78,228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Conc4000NW</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3,644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25,124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25.1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1,584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10,921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Conc3000NW</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3,156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21,760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21.8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1,372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9,460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Concrete masonry</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1,350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9,308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9.3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540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3,723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6061-T6 aluminum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10,100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69,637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69.6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3,787.5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26,114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0.33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Wood (24F-1.8E glulam)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1,800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12,411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3931920"/>
            <a:ext cx="5394960" cy="1645920"/>
          </a:xfrm>
          <a:prstGeom prst="roundRect">
            <a:avLst>
              <a:gd name="adj" fmla="val 4444"/>
            </a:avLst>
          </a:prstGeom>
          <a:solidFill>
            <a:srgbClr val="F1ECF8"/>
          </a:solidFill>
          <a:ln w="12700">
            <a:solidFill>
              <a:srgbClr val="F1ECF8"/>
            </a:solidFill>
            <a:prstDash val="solid"/>
          </a:ln>
        </p:spPr>
      </p:sp>
      <p:sp>
        <p:nvSpPr>
          <p:cNvPr id="8" name="Text 4"/>
          <p:cNvSpPr txBox="1"/>
          <p:nvPr/>
        </p:nvSpPr>
        <p:spPr>
          <a:xfrm>
            <a:off x="731520" y="4041648"/>
            <a:ext cx="5029200" cy="329184"/>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Why 200 GPa and 29,000 ksi are not the same number</a:t>
            </a:r>
            <a:endParaRPr lang="en-US" sz="1400" dirty="0"/>
          </a:p>
        </p:txBody>
      </p:sp>
      <p:sp>
        <p:nvSpPr>
          <p:cNvPr id="9" name="Text 5"/>
          <p:cNvSpPr txBox="1"/>
          <p:nvPr/>
        </p:nvSpPr>
        <p:spPr>
          <a:xfrm>
            <a:off x="731520" y="4389120"/>
            <a:ext cx="5029200" cy="109728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29,000 ksi converts to 199,948 MPa. Codes round to 200,000 MPa (NSCP, Eurocode) and to 29,000 ksi (AISC). The 0.03% gap is harmless, but a solver benchmarked against RISA in Imperial should use 29,000 and convert, not 200,000.</a:t>
            </a:r>
            <a:endParaRPr lang="en-US" sz="1200" dirty="0"/>
          </a:p>
        </p:txBody>
      </p:sp>
      <p:sp>
        <p:nvSpPr>
          <p:cNvPr id="10" name="Shape 6"/>
          <p:cNvSpPr/>
          <p:nvPr/>
        </p:nvSpPr>
        <p:spPr>
          <a:xfrm>
            <a:off x="6217920" y="3931920"/>
            <a:ext cx="5394960" cy="1645920"/>
          </a:xfrm>
          <a:prstGeom prst="roundRect">
            <a:avLst>
              <a:gd name="adj" fmla="val 4444"/>
            </a:avLst>
          </a:prstGeom>
          <a:solidFill>
            <a:srgbClr val="FDF5E4"/>
          </a:solidFill>
          <a:ln w="12700">
            <a:solidFill>
              <a:srgbClr val="FDF5E4"/>
            </a:solidFill>
            <a:prstDash val="solid"/>
          </a:ln>
        </p:spPr>
      </p:sp>
      <p:sp>
        <p:nvSpPr>
          <p:cNvPr id="11" name="Text 7"/>
          <p:cNvSpPr txBox="1"/>
          <p:nvPr/>
        </p:nvSpPr>
        <p:spPr>
          <a:xfrm>
            <a:off x="6400800" y="4041648"/>
            <a:ext cx="5029200" cy="329184"/>
          </a:xfrm>
          <a:prstGeom prst="rect">
            <a:avLst/>
          </a:prstGeom>
          <a:noFill/>
          <a:ln/>
        </p:spPr>
        <p:txBody>
          <a:bodyPr wrap="square" lIns="0" tIns="0" rIns="0" bIns="0" rtlCol="0" anchor="ctr"/>
          <a:lstStyle/>
          <a:p>
            <a:pPr indent="0" marL="0">
              <a:buNone/>
            </a:pPr>
            <a:r>
              <a:rPr lang="en-US" sz="1400" b="1" dirty="0">
                <a:solidFill>
                  <a:srgbClr val="D9950A"/>
                </a:solidFill>
                <a:latin typeface="Calibri" pitchFamily="34" charset="0"/>
                <a:ea typeface="Calibri" pitchFamily="34" charset="-122"/>
                <a:cs typeface="Calibri" pitchFamily="34" charset="-120"/>
              </a:rPr>
              <a:t>The kN-mm trap</a:t>
            </a:r>
            <a:endParaRPr lang="en-US" sz="1400" dirty="0"/>
          </a:p>
        </p:txBody>
      </p:sp>
      <p:sp>
        <p:nvSpPr>
          <p:cNvPr id="12" name="Text 8"/>
          <p:cNvSpPr txBox="1"/>
          <p:nvPr/>
        </p:nvSpPr>
        <p:spPr>
          <a:xfrm>
            <a:off x="6400800" y="4389120"/>
            <a:ext cx="5029200" cy="109728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With F = kN and L = mm, stress comes out in kN/mm², which is GPa. Steel E is then 199.9, not 199,948. Choose kN and m (E in kPa: 199,948,000) or N and mm (E in MPa: 199,948) and stay there.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Density: unit weight versus mass density</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2560320"/>
                <a:gridCol w="1005840"/>
                <a:gridCol w="822960"/>
                <a:gridCol w="1005840"/>
                <a:gridCol w="100584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Material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RISA [k/ft³]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pcf</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kN/m³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kg/m³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Steel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490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76.97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7,849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Normal-weight concrete</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0.145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22.78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2,323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Lightweight concrete</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17.28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1,762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Aluminum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0.173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173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27.18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2,771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Wood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0.035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5.50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561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Masonry (uniform alternative)</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12.57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1,281</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bl>
          </a:graphicData>
        </a:graphic>
      </p:graphicFrame>
      <p:sp>
        <p:nvSpPr>
          <p:cNvPr id="7" name="Text 3"/>
          <p:cNvSpPr txBox="1"/>
          <p:nvPr/>
        </p:nvSpPr>
        <p:spPr>
          <a:xfrm>
            <a:off x="7315200" y="1280160"/>
            <a:ext cx="4297680" cy="48463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Imperial tables give unit weight, a force per volume. SI tables usually give mass density in kg/m³. They differ by g: kN/m³ = kg/m³ × 9.80665 / 1000.</a:t>
            </a:r>
            <a:endParaRPr lang="en-US" sz="1200" dirty="0"/>
          </a:p>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Steel is the check value: 490 pcf = 76.97 kN/m³ = 7,849 kg/m³, close to the 7,850 kg/m³ most SI handbooks quote.</a:t>
            </a:r>
            <a:endParaRPr lang="en-US" sz="1200" dirty="0"/>
          </a:p>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Self-weight in the solver is w = γ·A. With γ in kN/m³ and A in mm², convert A to m² (÷ 1e6) or the load will be a million times too large.</a:t>
            </a:r>
            <a:endParaRPr lang="en-US" sz="1200" dirty="0"/>
          </a:p>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Masonry has no scalar density in RISA (block and grout rule). The 0.08 k/ft³ shown is the uniform-density alternative that was not selected.</a:t>
            </a:r>
            <a:endParaRPr lang="en-US" sz="1200" dirty="0"/>
          </a:p>
        </p:txBody>
      </p:sp>
      <p:sp>
        <p:nvSpPr>
          <p:cNvPr id="8" name="Shape 4"/>
          <p:cNvSpPr/>
          <p:nvPr/>
        </p:nvSpPr>
        <p:spPr>
          <a:xfrm>
            <a:off x="548640" y="3566160"/>
            <a:ext cx="6400800" cy="1188720"/>
          </a:xfrm>
          <a:prstGeom prst="roundRect">
            <a:avLst>
              <a:gd name="adj" fmla="val 6154"/>
            </a:avLst>
          </a:prstGeom>
          <a:solidFill>
            <a:srgbClr val="F1ECF8"/>
          </a:solidFill>
          <a:ln w="12700">
            <a:solidFill>
              <a:srgbClr val="F1ECF8"/>
            </a:solidFill>
            <a:prstDash val="solid"/>
          </a:ln>
        </p:spPr>
      </p:sp>
      <p:sp>
        <p:nvSpPr>
          <p:cNvPr id="9" name="Text 5"/>
          <p:cNvSpPr txBox="1"/>
          <p:nvPr/>
        </p:nvSpPr>
        <p:spPr>
          <a:xfrm>
            <a:off x="731520" y="3675888"/>
            <a:ext cx="6035040" cy="329184"/>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Formula behind the kg/m³ column</a:t>
            </a:r>
            <a:endParaRPr lang="en-US" sz="1400" dirty="0"/>
          </a:p>
        </p:txBody>
      </p:sp>
      <p:sp>
        <p:nvSpPr>
          <p:cNvPr id="10" name="Text 6"/>
          <p:cNvSpPr txBox="1"/>
          <p:nvPr/>
        </p:nvSpPr>
        <p:spPr>
          <a:xfrm>
            <a:off x="731520" y="4023360"/>
            <a:ext cx="6035040" cy="64008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kg/m³ = (k/ft³ × 4448.2216 / 0.3048³) / 9.80665. For steel: 0.49 × 16,018.46 = 7,849. The workbook derives 16,018.46 from the three exact constants rather than storing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Thermal coefficients: the mantissa trap</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2377440"/>
                <a:gridCol w="1188720"/>
                <a:gridCol w="914400"/>
                <a:gridCol w="1005840"/>
                <a:gridCol w="91440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Material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RISA [1e-5/°F]</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[1e-6/°C]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Steel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6.5e-6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11.7e-6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11.7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Concrete, masonry</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6.0e-6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10.8e-6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Aluminum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13.0e-6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23.4e-6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23.4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Wood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3.0e-6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5.4e-6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gen_Alum (General tab)</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1.29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12.9e-6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23.2e-6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23.2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7315200" y="1280160"/>
            <a:ext cx="4297680" cy="48463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RISA's column header carries the exponent: the cell 0.65 means 0.65 × 1e-5 per °F. Read the number without the header and steel expands 100,000 times too fast.</a:t>
            </a:r>
            <a:endParaRPr lang="en-US" sz="1200" dirty="0"/>
          </a:p>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A degree Celsius is a bigger step than a degree Fahrenheit, so the coefficient per °C is 1.8 times the coefficient per °F. Going from 1e-5/°F to 1e-6/°C is therefore × 18.</a:t>
            </a:r>
            <a:endParaRPr lang="en-US" sz="1200" dirty="0"/>
          </a:p>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Check value: steel 11.7e-6 /°C is the figure in Eurocode 3 (12e-6) and AISC (6.5e-6 /°F) to within rounding.</a:t>
            </a:r>
            <a:endParaRPr lang="en-US" sz="1200" dirty="0"/>
          </a:p>
          <a:p>
            <a:pPr marL="177800" indent="-177800">
              <a:spcAft>
                <a:spcPts val="800"/>
              </a:spcAft>
              <a:buSzPct val="100000"/>
              <a:buChar char="•"/>
            </a:pPr>
            <a:r>
              <a:rPr lang="en-US" sz="1200" dirty="0">
                <a:solidFill>
                  <a:srgbClr val="1F1F24"/>
                </a:solidFill>
                <a:latin typeface="Calibri" pitchFamily="34" charset="0"/>
                <a:ea typeface="Calibri" pitchFamily="34" charset="-122"/>
                <a:cs typeface="Calibri" pitchFamily="34" charset="-120"/>
              </a:rPr>
              <a:t>Temperature itself is an offset conversion, °C = (°F − 32)/1.8, but temperature change is a pure factor, ΔT°C = ΔT°F / 1.8. Thermal loads use the change.</a:t>
            </a:r>
            <a:endParaRPr lang="en-US" sz="1200" dirty="0"/>
          </a:p>
        </p:txBody>
      </p:sp>
      <p:sp>
        <p:nvSpPr>
          <p:cNvPr id="8" name="Shape 4"/>
          <p:cNvSpPr/>
          <p:nvPr/>
        </p:nvSpPr>
        <p:spPr>
          <a:xfrm>
            <a:off x="548640" y="3291840"/>
            <a:ext cx="6400800" cy="1371600"/>
          </a:xfrm>
          <a:prstGeom prst="roundRect">
            <a:avLst>
              <a:gd name="adj" fmla="val 5333"/>
            </a:avLst>
          </a:prstGeom>
          <a:solidFill>
            <a:srgbClr val="FDF5E4"/>
          </a:solidFill>
          <a:ln w="12700">
            <a:solidFill>
              <a:srgbClr val="FDF5E4"/>
            </a:solidFill>
            <a:prstDash val="solid"/>
          </a:ln>
        </p:spPr>
      </p:sp>
      <p:sp>
        <p:nvSpPr>
          <p:cNvPr id="9" name="Text 5"/>
          <p:cNvSpPr txBox="1"/>
          <p:nvPr/>
        </p:nvSpPr>
        <p:spPr>
          <a:xfrm>
            <a:off x="731520" y="3401568"/>
            <a:ext cx="6035040" cy="329184"/>
          </a:xfrm>
          <a:prstGeom prst="rect">
            <a:avLst/>
          </a:prstGeom>
          <a:noFill/>
          <a:ln/>
        </p:spPr>
        <p:txBody>
          <a:bodyPr wrap="square" lIns="0" tIns="0" rIns="0" bIns="0" rtlCol="0" anchor="ctr"/>
          <a:lstStyle/>
          <a:p>
            <a:pPr indent="0" marL="0">
              <a:buNone/>
            </a:pPr>
            <a:r>
              <a:rPr lang="en-US" sz="1400" b="1" dirty="0">
                <a:solidFill>
                  <a:srgbClr val="D9950A"/>
                </a:solidFill>
                <a:latin typeface="Calibri" pitchFamily="34" charset="0"/>
                <a:ea typeface="Calibri" pitchFamily="34" charset="-122"/>
                <a:cs typeface="Calibri" pitchFamily="34" charset="-120"/>
              </a:rPr>
              <a:t>Worked example</a:t>
            </a:r>
            <a:endParaRPr lang="en-US" sz="1400" dirty="0"/>
          </a:p>
        </p:txBody>
      </p:sp>
      <p:sp>
        <p:nvSpPr>
          <p:cNvPr id="10" name="Text 6"/>
          <p:cNvSpPr txBox="1"/>
          <p:nvPr/>
        </p:nvSpPr>
        <p:spPr>
          <a:xfrm>
            <a:off x="731520" y="3749040"/>
            <a:ext cx="6035040" cy="82296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A 6 m steel member warmed by 20 °C: ε = 11.7e-6 × 20 = 234e-6; ΔL = 234e-6 × 6000 mm = 1.40 mm. In Imperial: 6.5e-6 × 36 °F × 236.2 in = 0.055 in = 1.40 mm. Both routes must agree, and this is a good unit test for the solver.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The material library in both systems</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8</a:t>
            </a:r>
            <a:endParaRPr lang="en-US" sz="1000" dirty="0"/>
          </a:p>
        </p:txBody>
      </p:sp>
      <p:sp>
        <p:nvSpPr>
          <p:cNvPr id="6" name="Text 3"/>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300" dirty="0">
                <a:solidFill>
                  <a:srgbClr val="5F6068"/>
                </a:solidFill>
                <a:latin typeface="Calibri" pitchFamily="34" charset="0"/>
                <a:ea typeface="Calibri" pitchFamily="34" charset="-122"/>
                <a:cs typeface="Calibri" pitchFamily="34" charset="-120"/>
              </a:rPr>
              <a:t>Representative rows from the Materials (Imperial) and Materials (Metric) sheets. The Metric sheet is entirely formula-driven from the Imperial sheet.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377440"/>
                <a:gridCol w="1005840"/>
                <a:gridCol w="1097280"/>
                <a:gridCol w="1005840"/>
                <a:gridCol w="1005840"/>
                <a:gridCol w="1280160"/>
                <a:gridCol w="1280160"/>
                <a:gridCol w="1005840"/>
                <a:gridCol w="100584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Label</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 [ksi]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γ [k/ft³]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γ [kN/m³]</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Strength [ksi]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Strength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 [ksi]</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 [MPa]</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5B2A86"/>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A36 Gr.36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29,000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199,948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76.97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248.2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399.9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A992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29,000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199,948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76.97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344.7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399.9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A570_33 (cold formed)</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29,500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203,395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76.97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227.5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358.5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Conc3000NW</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3,156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21,760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0.145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22.78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 (f'c)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20.7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Conc4000NW</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3,644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25,124</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0.145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22.78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4 (f'c)</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27.6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Concrete Matl (masonry)</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1,350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9,308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Custom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Custom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1.5 (f'm)</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10.3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6061-T6</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10,100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69,637</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0.173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27.18</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35 (Fty)</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241.3</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38 (Ftu)</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262.0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F1F24"/>
                          </a:solidFill>
                          <a:latin typeface="Calibri" pitchFamily="34" charset="0"/>
                          <a:ea typeface="Calibri" pitchFamily="34" charset="-122"/>
                          <a:cs typeface="Calibri" pitchFamily="34" charset="-120"/>
                        </a:rPr>
                        <a:t>DF (No.1, solid sawn)</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NDS lookup</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NDS lookup</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0.035</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r>
                        <a:rPr lang="en-US" sz="1100" dirty="0">
                          <a:solidFill>
                            <a:srgbClr val="1F1F24"/>
                          </a:solidFill>
                          <a:latin typeface="Calibri" pitchFamily="34" charset="0"/>
                          <a:ea typeface="Calibri" pitchFamily="34" charset="-122"/>
                          <a:cs typeface="Calibri" pitchFamily="34" charset="-120"/>
                        </a:rPr>
                        <a:t>5.50</a:t>
                      </a: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6350" cap="flat" cmpd="sng" algn="ctr">
                      <a:solidFill>
                        <a:srgbClr val="D9D4E3"/>
                      </a:solidFill>
                      <a:prstDash val="solid"/>
                      <a:round/>
                      <a:headEnd type="none" w="med" len="med"/>
                      <a:tailEnd type="none" w="med" len="med"/>
                    </a:lnL>
                    <a:lnR w="6350" cap="flat" cmpd="sng" algn="ctr">
                      <a:solidFill>
                        <a:srgbClr val="D9D4E3"/>
                      </a:solidFill>
                      <a:prstDash val="solid"/>
                      <a:round/>
                      <a:headEnd type="none" w="med" len="med"/>
                      <a:tailEnd type="none" w="med" len="med"/>
                    </a:lnR>
                    <a:lnT w="6350" cap="flat" cmpd="sng" algn="ctr">
                      <a:solidFill>
                        <a:srgbClr val="D9D4E3"/>
                      </a:solidFill>
                      <a:prstDash val="solid"/>
                      <a:round/>
                      <a:headEnd type="none" w="med" len="med"/>
                      <a:tailEnd type="none" w="med" len="med"/>
                    </a:lnT>
                    <a:lnB w="6350" cap="flat" cmpd="sng" algn="ctr">
                      <a:solidFill>
                        <a:srgbClr val="D9D4E3"/>
                      </a:solidFill>
                      <a:prstDash val="solid"/>
                      <a:round/>
                      <a:headEnd type="none" w="med" len="med"/>
                      <a:tailEnd type="none" w="med" len="med"/>
                    </a:lnB>
                    <a:solidFill>
                      <a:srgbClr val="F1ECF8"/>
                    </a:solidFill>
                  </a:tcPr>
                </a:tc>
              </a:tr>
            </a:tbl>
          </a:graphicData>
        </a:graphic>
      </p:graphicFrame>
      <p:sp>
        <p:nvSpPr>
          <p:cNvPr id="8" name="Text 4"/>
          <p:cNvSpPr txBox="1"/>
          <p:nvPr/>
        </p:nvSpPr>
        <p:spPr>
          <a:xfrm>
            <a:off x="548640" y="4846320"/>
            <a:ext cx="11064240" cy="640080"/>
          </a:xfrm>
          <a:prstGeom prst="rect">
            <a:avLst/>
          </a:prstGeom>
          <a:noFill/>
          <a:ln/>
        </p:spPr>
        <p:txBody>
          <a:bodyPr wrap="square" lIns="0" tIns="0" rIns="0" bIns="0" rtlCol="0" anchor="ctr"/>
          <a:lstStyle/>
          <a:p>
            <a:pPr indent="0" marL="0">
              <a:buNone/>
            </a:pPr>
            <a:r>
              <a:rPr lang="en-US" sz="1200" i="1" dirty="0">
                <a:solidFill>
                  <a:srgbClr val="5B2A86"/>
                </a:solidFill>
                <a:latin typeface="Calibri" pitchFamily="34" charset="0"/>
                <a:ea typeface="Calibri" pitchFamily="34" charset="-122"/>
                <a:cs typeface="Calibri" pitchFamily="34" charset="-120"/>
              </a:rPr>
              <a:t>Grade 60 rebar (Flex Steel and Shear Steel, 60 ksi) is 413.7 MPa, which is why NSCP calls it Grade 420. A992's 50 ksi is 344.7 MPa, sold locally as Grade 345.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Unit strategy for Solver Rev.2</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9</a:t>
            </a:r>
            <a:endParaRPr lang="en-US" sz="1000" dirty="0"/>
          </a:p>
        </p:txBody>
      </p:sp>
      <p:sp>
        <p:nvSpPr>
          <p:cNvPr id="6" name="Shape 3"/>
          <p:cNvSpPr/>
          <p:nvPr/>
        </p:nvSpPr>
        <p:spPr>
          <a:xfrm>
            <a:off x="548640" y="1325880"/>
            <a:ext cx="5852160" cy="4846320"/>
          </a:xfrm>
          <a:prstGeom prst="roundRect">
            <a:avLst>
              <a:gd name="adj" fmla="val 1887"/>
            </a:avLst>
          </a:prstGeom>
          <a:solidFill>
            <a:srgbClr val="23243A"/>
          </a:solidFill>
          <a:ln w="12700">
            <a:solidFill>
              <a:srgbClr val="23243A"/>
            </a:solidFill>
            <a:prstDash val="solid"/>
          </a:ln>
        </p:spPr>
      </p:sp>
      <p:sp>
        <p:nvSpPr>
          <p:cNvPr id="7" name="Text 4"/>
          <p:cNvSpPr txBox="1"/>
          <p:nvPr/>
        </p:nvSpPr>
        <p:spPr>
          <a:xfrm>
            <a:off x="731520" y="1463040"/>
            <a:ext cx="5486400" cy="4572000"/>
          </a:xfrm>
          <a:prstGeom prst="rect">
            <a:avLst/>
          </a:prstGeom>
          <a:noFill/>
          <a:ln/>
        </p:spPr>
        <p:txBody>
          <a:bodyPr wrap="square" lIns="0" tIns="0" rIns="0" bIns="0" rtlCol="0" anchor="t"/>
          <a:lstStyle/>
          <a:p>
            <a:pPr indent="0" marL="0">
              <a:buNone/>
            </a:pPr>
            <a:r>
              <a:rPr lang="en-US" sz="1050" dirty="0">
                <a:solidFill>
                  <a:srgbClr val="E6E1F0"/>
                </a:solidFill>
                <a:latin typeface="Courier New" pitchFamily="34" charset="0"/>
                <a:ea typeface="Courier New" pitchFamily="34" charset="-122"/>
                <a:cs typeface="Courier New" pitchFamily="34" charset="-120"/>
              </a:rPr>
              <a:t># Exact definitions: everything else derives from these</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IN_MM, LBF_N, G0 = 25.4, 4.4482216152605, 9.80665</a:t>
            </a:r>
            <a:endParaRPr lang="en-US" sz="1050" dirty="0"/>
          </a:p>
          <a:p>
            <a:pPr indent="0" marL="0">
              <a:buNone/>
            </a:pP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KSI_MPA = LBF_N * 1000 / IN_MM**2          # 6.894757</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KIP_KN  = LBF_N                              # 4.448222</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KCF_KNM3 = LBF_N * 1000 / (IN_MM*12/1000)**3 # 157.0875</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FT_M, IN4_MM4 = IN_MM*12/1000, IN_MM**4</a:t>
            </a:r>
            <a:endParaRPr lang="en-US" sz="1050" dirty="0"/>
          </a:p>
          <a:p>
            <a:pPr indent="0" marL="0">
              <a:buNone/>
            </a:pP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class Units:</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"""Solver works in kN and m internally (E in kPa)."""</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@staticmethod</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def from_imperial(E_ksi, dens_kcf, alpha_1e5F):</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return dict(E=E_ksi*KSI_MPA*1000,       # kPa</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gamma=dens_kcf*KCF_KNM3,   # kN/m3</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alpha=alpha_1e5F*1e-5*1.8) # /degC</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@staticmethod</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def from_metric(E_MPa, gamma_kNm3, alpha_perC):</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return dict(E=E_MPa*1000, gamma=gamma_kNm3,</a:t>
            </a: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alpha=alpha_perC)</a:t>
            </a:r>
            <a:endParaRPr lang="en-US" sz="1050" dirty="0"/>
          </a:p>
          <a:p>
            <a:pPr indent="0" marL="0">
              <a:buNone/>
            </a:pPr>
            <a:endParaRPr lang="en-US" sz="1050" dirty="0"/>
          </a:p>
          <a:p>
            <a:pPr indent="0" marL="0">
              <a:buNone/>
            </a:pPr>
            <a:r>
              <a:rPr lang="en-US" sz="1050" dirty="0">
                <a:solidFill>
                  <a:srgbClr val="E6E1F0"/>
                </a:solidFill>
                <a:latin typeface="Courier New" pitchFamily="34" charset="0"/>
                <a:ea typeface="Courier New" pitchFamily="34" charset="-122"/>
                <a:cs typeface="Courier New" pitchFamily="34" charset="-120"/>
              </a:rPr>
              <a:t># Geometry: ft -&gt; m, in -&gt; m, in^4 -&gt; m^4 at input; m -&gt; mm at output</a:t>
            </a:r>
            <a:endParaRPr lang="en-US" sz="1050" dirty="0"/>
          </a:p>
        </p:txBody>
      </p:sp>
      <p:sp>
        <p:nvSpPr>
          <p:cNvPr id="8" name="Shape 5"/>
          <p:cNvSpPr/>
          <p:nvPr/>
        </p:nvSpPr>
        <p:spPr>
          <a:xfrm>
            <a:off x="6675120" y="1371600"/>
            <a:ext cx="457200" cy="457200"/>
          </a:xfrm>
          <a:prstGeom prst="ellipse">
            <a:avLst/>
          </a:prstGeom>
          <a:solidFill>
            <a:srgbClr val="5B2A86"/>
          </a:solidFill>
          <a:ln/>
        </p:spPr>
      </p:sp>
      <p:sp>
        <p:nvSpPr>
          <p:cNvPr id="9" name="Text 6"/>
          <p:cNvSpPr txBox="1"/>
          <p:nvPr/>
        </p:nvSpPr>
        <p:spPr>
          <a:xfrm>
            <a:off x="667512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txBox="1"/>
          <p:nvPr/>
        </p:nvSpPr>
        <p:spPr>
          <a:xfrm>
            <a:off x="7269480" y="1325880"/>
            <a:ext cx="4389120" cy="32004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One internal set</a:t>
            </a:r>
            <a:endParaRPr lang="en-US" sz="1400" dirty="0"/>
          </a:p>
        </p:txBody>
      </p:sp>
      <p:sp>
        <p:nvSpPr>
          <p:cNvPr id="11" name="Text 8"/>
          <p:cNvSpPr txBox="1"/>
          <p:nvPr/>
        </p:nvSpPr>
        <p:spPr>
          <a:xfrm>
            <a:off x="7269480" y="1655064"/>
            <a:ext cx="4389120" cy="621792"/>
          </a:xfrm>
          <a:prstGeom prst="rect">
            <a:avLst/>
          </a:prstGeom>
          <a:noFill/>
          <a:ln/>
        </p:spPr>
        <p:txBody>
          <a:bodyPr wrap="square" lIns="0" tIns="0" rIns="0" bIns="0" rtlCol="0" anchor="t"/>
          <a:lstStyle/>
          <a:p>
            <a:pPr indent="0" marL="0">
              <a:buNone/>
            </a:pPr>
            <a:r>
              <a:rPr lang="en-US" sz="1100" dirty="0">
                <a:solidFill>
                  <a:srgbClr val="1F1F24"/>
                </a:solidFill>
                <a:latin typeface="Calibri" pitchFamily="34" charset="0"/>
                <a:ea typeface="Calibri" pitchFamily="34" charset="-122"/>
                <a:cs typeface="Calibri" pitchFamily="34" charset="-120"/>
              </a:rPr>
              <a:t>kN and m throughout: E in kPa, A in m², I in m⁴, loads in kN and kN/m. No factor ever appears inside the stiffness assembly.</a:t>
            </a:r>
            <a:endParaRPr lang="en-US" sz="1100" dirty="0"/>
          </a:p>
        </p:txBody>
      </p:sp>
      <p:sp>
        <p:nvSpPr>
          <p:cNvPr id="12" name="Shape 9"/>
          <p:cNvSpPr/>
          <p:nvPr/>
        </p:nvSpPr>
        <p:spPr>
          <a:xfrm>
            <a:off x="6675120" y="2340864"/>
            <a:ext cx="457200" cy="457200"/>
          </a:xfrm>
          <a:prstGeom prst="ellipse">
            <a:avLst/>
          </a:prstGeom>
          <a:solidFill>
            <a:srgbClr val="5B2A86"/>
          </a:solidFill>
          <a:ln/>
        </p:spPr>
      </p:sp>
      <p:sp>
        <p:nvSpPr>
          <p:cNvPr id="13" name="Text 10"/>
          <p:cNvSpPr txBox="1"/>
          <p:nvPr/>
        </p:nvSpPr>
        <p:spPr>
          <a:xfrm>
            <a:off x="6675120" y="23408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7269480" y="2295144"/>
            <a:ext cx="4389120" cy="32004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Convert at the boundary</a:t>
            </a:r>
            <a:endParaRPr lang="en-US" sz="1400" dirty="0"/>
          </a:p>
        </p:txBody>
      </p:sp>
      <p:sp>
        <p:nvSpPr>
          <p:cNvPr id="15" name="Text 12"/>
          <p:cNvSpPr txBox="1"/>
          <p:nvPr/>
        </p:nvSpPr>
        <p:spPr>
          <a:xfrm>
            <a:off x="7269480" y="2624328"/>
            <a:ext cx="4389120" cy="621792"/>
          </a:xfrm>
          <a:prstGeom prst="rect">
            <a:avLst/>
          </a:prstGeom>
          <a:noFill/>
          <a:ln/>
        </p:spPr>
        <p:txBody>
          <a:bodyPr wrap="square" lIns="0" tIns="0" rIns="0" bIns="0" rtlCol="0" anchor="t"/>
          <a:lstStyle/>
          <a:p>
            <a:pPr indent="0" marL="0">
              <a:buNone/>
            </a:pPr>
            <a:r>
              <a:rPr lang="en-US" sz="1100" dirty="0">
                <a:solidFill>
                  <a:srgbClr val="1F1F24"/>
                </a:solidFill>
                <a:latin typeface="Calibri" pitchFamily="34" charset="0"/>
                <a:ea typeface="Calibri" pitchFamily="34" charset="-122"/>
                <a:cs typeface="Calibri" pitchFamily="34" charset="-120"/>
              </a:rPr>
              <a:t>Input readers translate from Imperial or Metric into the internal set; output writers translate back to whichever set the user chose.</a:t>
            </a:r>
            <a:endParaRPr lang="en-US" sz="1100" dirty="0"/>
          </a:p>
        </p:txBody>
      </p:sp>
      <p:sp>
        <p:nvSpPr>
          <p:cNvPr id="16" name="Shape 13"/>
          <p:cNvSpPr/>
          <p:nvPr/>
        </p:nvSpPr>
        <p:spPr>
          <a:xfrm>
            <a:off x="6675120" y="3310128"/>
            <a:ext cx="457200" cy="457200"/>
          </a:xfrm>
          <a:prstGeom prst="ellipse">
            <a:avLst/>
          </a:prstGeom>
          <a:solidFill>
            <a:srgbClr val="5B2A86"/>
          </a:solidFill>
          <a:ln/>
        </p:spPr>
      </p:sp>
      <p:sp>
        <p:nvSpPr>
          <p:cNvPr id="17" name="Text 14"/>
          <p:cNvSpPr txBox="1"/>
          <p:nvPr/>
        </p:nvSpPr>
        <p:spPr>
          <a:xfrm>
            <a:off x="6675120" y="3310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5"/>
          <p:cNvSpPr txBox="1"/>
          <p:nvPr/>
        </p:nvSpPr>
        <p:spPr>
          <a:xfrm>
            <a:off x="7269480" y="3264408"/>
            <a:ext cx="4389120" cy="32004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Derive factors, never type them</a:t>
            </a:r>
            <a:endParaRPr lang="en-US" sz="1400" dirty="0"/>
          </a:p>
        </p:txBody>
      </p:sp>
      <p:sp>
        <p:nvSpPr>
          <p:cNvPr id="19" name="Text 16"/>
          <p:cNvSpPr txBox="1"/>
          <p:nvPr/>
        </p:nvSpPr>
        <p:spPr>
          <a:xfrm>
            <a:off x="7269480" y="3593592"/>
            <a:ext cx="4389120" cy="621792"/>
          </a:xfrm>
          <a:prstGeom prst="rect">
            <a:avLst/>
          </a:prstGeom>
          <a:noFill/>
          <a:ln/>
        </p:spPr>
        <p:txBody>
          <a:bodyPr wrap="square" lIns="0" tIns="0" rIns="0" bIns="0" rtlCol="0" anchor="t"/>
          <a:lstStyle/>
          <a:p>
            <a:pPr indent="0" marL="0">
              <a:buNone/>
            </a:pPr>
            <a:r>
              <a:rPr lang="en-US" sz="1100" dirty="0">
                <a:solidFill>
                  <a:srgbClr val="1F1F24"/>
                </a:solidFill>
                <a:latin typeface="Calibri" pitchFamily="34" charset="0"/>
                <a:ea typeface="Calibri" pitchFamily="34" charset="-122"/>
                <a:cs typeface="Calibri" pitchFamily="34" charset="-120"/>
              </a:rPr>
              <a:t>Three constants, everything else computed. The workbook and the code share the same derivation, so they cannot disagree.</a:t>
            </a:r>
            <a:endParaRPr lang="en-US" sz="1100" dirty="0"/>
          </a:p>
        </p:txBody>
      </p:sp>
      <p:sp>
        <p:nvSpPr>
          <p:cNvPr id="20" name="Shape 17"/>
          <p:cNvSpPr/>
          <p:nvPr/>
        </p:nvSpPr>
        <p:spPr>
          <a:xfrm>
            <a:off x="6675120" y="4279392"/>
            <a:ext cx="457200" cy="457200"/>
          </a:xfrm>
          <a:prstGeom prst="ellipse">
            <a:avLst/>
          </a:prstGeom>
          <a:solidFill>
            <a:srgbClr val="5B2A86"/>
          </a:solidFill>
          <a:ln/>
        </p:spPr>
      </p:sp>
      <p:sp>
        <p:nvSpPr>
          <p:cNvPr id="21" name="Text 18"/>
          <p:cNvSpPr txBox="1"/>
          <p:nvPr/>
        </p:nvSpPr>
        <p:spPr>
          <a:xfrm>
            <a:off x="6675120" y="42793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7269480" y="4233672"/>
            <a:ext cx="4389120" cy="32004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Test both routes</a:t>
            </a:r>
            <a:endParaRPr lang="en-US" sz="1400" dirty="0"/>
          </a:p>
        </p:txBody>
      </p:sp>
      <p:sp>
        <p:nvSpPr>
          <p:cNvPr id="23" name="Text 20"/>
          <p:cNvSpPr txBox="1"/>
          <p:nvPr/>
        </p:nvSpPr>
        <p:spPr>
          <a:xfrm>
            <a:off x="7269480" y="4562856"/>
            <a:ext cx="4389120" cy="621792"/>
          </a:xfrm>
          <a:prstGeom prst="rect">
            <a:avLst/>
          </a:prstGeom>
          <a:noFill/>
          <a:ln/>
        </p:spPr>
        <p:txBody>
          <a:bodyPr wrap="square" lIns="0" tIns="0" rIns="0" bIns="0" rtlCol="0" anchor="t"/>
          <a:lstStyle/>
          <a:p>
            <a:pPr indent="0" marL="0">
              <a:buNone/>
            </a:pPr>
            <a:r>
              <a:rPr lang="en-US" sz="1100" dirty="0">
                <a:solidFill>
                  <a:srgbClr val="1F1F24"/>
                </a:solidFill>
                <a:latin typeface="Calibri" pitchFamily="34" charset="0"/>
                <a:ea typeface="Calibri" pitchFamily="34" charset="-122"/>
                <a:cs typeface="Calibri" pitchFamily="34" charset="-120"/>
              </a:rPr>
              <a:t>The 6 m cube benchmark run in Imperial and in Metric must give the same deflections to floating-point precision.</a:t>
            </a:r>
            <a:endParaRPr lang="en-US" sz="1100" dirty="0"/>
          </a:p>
        </p:txBody>
      </p:sp>
      <p:sp>
        <p:nvSpPr>
          <p:cNvPr id="24" name="Shape 21"/>
          <p:cNvSpPr/>
          <p:nvPr/>
        </p:nvSpPr>
        <p:spPr>
          <a:xfrm>
            <a:off x="6675120" y="5248656"/>
            <a:ext cx="457200" cy="457200"/>
          </a:xfrm>
          <a:prstGeom prst="ellipse">
            <a:avLst/>
          </a:prstGeom>
          <a:solidFill>
            <a:srgbClr val="5B2A86"/>
          </a:solidFill>
          <a:ln/>
        </p:spPr>
      </p:sp>
      <p:sp>
        <p:nvSpPr>
          <p:cNvPr id="25" name="Text 22"/>
          <p:cNvSpPr txBox="1"/>
          <p:nvPr/>
        </p:nvSpPr>
        <p:spPr>
          <a:xfrm>
            <a:off x="6675120" y="52486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6" name="Text 23"/>
          <p:cNvSpPr txBox="1"/>
          <p:nvPr/>
        </p:nvSpPr>
        <p:spPr>
          <a:xfrm>
            <a:off x="7269480" y="5202936"/>
            <a:ext cx="4389120" cy="32004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Flag suspicious rows</a:t>
            </a:r>
            <a:endParaRPr lang="en-US" sz="1400" dirty="0"/>
          </a:p>
        </p:txBody>
      </p:sp>
      <p:sp>
        <p:nvSpPr>
          <p:cNvPr id="27" name="Text 24"/>
          <p:cNvSpPr txBox="1"/>
          <p:nvPr/>
        </p:nvSpPr>
        <p:spPr>
          <a:xfrm>
            <a:off x="7269480" y="5532120"/>
            <a:ext cx="4389120" cy="621792"/>
          </a:xfrm>
          <a:prstGeom prst="rect">
            <a:avLst/>
          </a:prstGeom>
          <a:noFill/>
          <a:ln/>
        </p:spPr>
        <p:txBody>
          <a:bodyPr wrap="square" lIns="0" tIns="0" rIns="0" bIns="0" rtlCol="0" anchor="t"/>
          <a:lstStyle/>
          <a:p>
            <a:pPr indent="0" marL="0">
              <a:buNone/>
            </a:pPr>
            <a:r>
              <a:rPr lang="en-US" sz="1100" dirty="0">
                <a:solidFill>
                  <a:srgbClr val="1F1F24"/>
                </a:solidFill>
                <a:latin typeface="Calibri" pitchFamily="34" charset="0"/>
                <a:ea typeface="Calibri" pitchFamily="34" charset="-122"/>
                <a:cs typeface="Calibri" pitchFamily="34" charset="-120"/>
              </a:rPr>
              <a:t>Warn when E is outside 1 to 250 GPa or γ outside 1 to 100 kN/m³. SS1 would trip this check immediately.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Six ways units go wrong, and the check for each</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10</a:t>
            </a:r>
            <a:endParaRPr lang="en-US" sz="1000" dirty="0"/>
          </a:p>
        </p:txBody>
      </p:sp>
      <p:sp>
        <p:nvSpPr>
          <p:cNvPr id="6" name="Shape 3"/>
          <p:cNvSpPr/>
          <p:nvPr/>
        </p:nvSpPr>
        <p:spPr>
          <a:xfrm>
            <a:off x="548640" y="1325880"/>
            <a:ext cx="3566160" cy="1920240"/>
          </a:xfrm>
          <a:prstGeom prst="roundRect">
            <a:avLst>
              <a:gd name="adj" fmla="val 4762"/>
            </a:avLst>
          </a:prstGeom>
          <a:solidFill>
            <a:srgbClr val="F1ECF8"/>
          </a:solidFill>
          <a:ln w="12700">
            <a:solidFill>
              <a:srgbClr val="F1ECF8"/>
            </a:solidFill>
            <a:prstDash val="solid"/>
          </a:ln>
        </p:spPr>
      </p:sp>
      <p:sp>
        <p:nvSpPr>
          <p:cNvPr id="7" name="Shape 4"/>
          <p:cNvSpPr/>
          <p:nvPr/>
        </p:nvSpPr>
        <p:spPr>
          <a:xfrm>
            <a:off x="731520" y="1508760"/>
            <a:ext cx="457200" cy="457200"/>
          </a:xfrm>
          <a:prstGeom prst="ellipse">
            <a:avLst/>
          </a:prstGeom>
          <a:solidFill>
            <a:srgbClr val="D9950A"/>
          </a:solidFill>
          <a:ln/>
        </p:spPr>
      </p:sp>
      <p:sp>
        <p:nvSpPr>
          <p:cNvPr id="8" name="Text 5"/>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325880" y="1508760"/>
            <a:ext cx="2651760" cy="45720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kg/m³ used as kN/m³</a:t>
            </a:r>
            <a:endParaRPr lang="en-US" sz="1400" dirty="0"/>
          </a:p>
        </p:txBody>
      </p:sp>
      <p:sp>
        <p:nvSpPr>
          <p:cNvPr id="10" name="Text 7"/>
          <p:cNvSpPr txBox="1"/>
          <p:nvPr/>
        </p:nvSpPr>
        <p:spPr>
          <a:xfrm>
            <a:off x="731520" y="2103120"/>
            <a:ext cx="3200400" cy="54864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Self-weight 102 times too large.</a:t>
            </a:r>
            <a:endParaRPr lang="en-US" sz="1200" dirty="0"/>
          </a:p>
        </p:txBody>
      </p:sp>
      <p:sp>
        <p:nvSpPr>
          <p:cNvPr id="11" name="Text 8"/>
          <p:cNvSpPr txBox="1"/>
          <p:nvPr/>
        </p:nvSpPr>
        <p:spPr>
          <a:xfrm>
            <a:off x="731520" y="2651760"/>
            <a:ext cx="3200400" cy="548640"/>
          </a:xfrm>
          <a:prstGeom prst="rect">
            <a:avLst/>
          </a:prstGeom>
          <a:noFill/>
          <a:ln/>
        </p:spPr>
        <p:txBody>
          <a:bodyPr wrap="square" lIns="0" tIns="0" rIns="0" bIns="0" rtlCol="0" anchor="t"/>
          <a:lstStyle/>
          <a:p>
            <a:pPr indent="0" marL="0">
              <a:buNone/>
            </a:pPr>
            <a:r>
              <a:rPr lang="en-US" sz="1100" i="1" dirty="0">
                <a:solidFill>
                  <a:srgbClr val="5F6068"/>
                </a:solidFill>
                <a:latin typeface="Calibri" pitchFamily="34" charset="0"/>
                <a:ea typeface="Calibri" pitchFamily="34" charset="-122"/>
                <a:cs typeface="Calibri" pitchFamily="34" charset="-120"/>
              </a:rPr>
              <a:t>Check: Steel must be 77 kN/m³, not 7,850.</a:t>
            </a:r>
            <a:endParaRPr lang="en-US" sz="1100" dirty="0"/>
          </a:p>
        </p:txBody>
      </p:sp>
      <p:sp>
        <p:nvSpPr>
          <p:cNvPr id="12" name="Shape 9"/>
          <p:cNvSpPr/>
          <p:nvPr/>
        </p:nvSpPr>
        <p:spPr>
          <a:xfrm>
            <a:off x="4297680" y="1325880"/>
            <a:ext cx="3566160" cy="1920240"/>
          </a:xfrm>
          <a:prstGeom prst="roundRect">
            <a:avLst>
              <a:gd name="adj" fmla="val 4762"/>
            </a:avLst>
          </a:prstGeom>
          <a:solidFill>
            <a:srgbClr val="F1ECF8"/>
          </a:solidFill>
          <a:ln w="12700">
            <a:solidFill>
              <a:srgbClr val="F1ECF8"/>
            </a:solidFill>
            <a:prstDash val="solid"/>
          </a:ln>
        </p:spPr>
      </p:sp>
      <p:sp>
        <p:nvSpPr>
          <p:cNvPr id="13" name="Shape 10"/>
          <p:cNvSpPr/>
          <p:nvPr/>
        </p:nvSpPr>
        <p:spPr>
          <a:xfrm>
            <a:off x="4480560" y="1508760"/>
            <a:ext cx="457200" cy="457200"/>
          </a:xfrm>
          <a:prstGeom prst="ellipse">
            <a:avLst/>
          </a:prstGeom>
          <a:solidFill>
            <a:srgbClr val="D9950A"/>
          </a:solidFill>
          <a:ln/>
        </p:spPr>
      </p:sp>
      <p:sp>
        <p:nvSpPr>
          <p:cNvPr id="14" name="Text 11"/>
          <p:cNvSpPr txBox="1"/>
          <p:nvPr/>
        </p:nvSpPr>
        <p:spPr>
          <a:xfrm>
            <a:off x="448056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5074920" y="1508760"/>
            <a:ext cx="2651760" cy="45720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kN with mm</a:t>
            </a:r>
            <a:endParaRPr lang="en-US" sz="1400" dirty="0"/>
          </a:p>
        </p:txBody>
      </p:sp>
      <p:sp>
        <p:nvSpPr>
          <p:cNvPr id="16" name="Text 13"/>
          <p:cNvSpPr txBox="1"/>
          <p:nvPr/>
        </p:nvSpPr>
        <p:spPr>
          <a:xfrm>
            <a:off x="4480560" y="2103120"/>
            <a:ext cx="3200400" cy="54864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E reads 200 instead of 200,000.</a:t>
            </a:r>
            <a:endParaRPr lang="en-US" sz="1200" dirty="0"/>
          </a:p>
        </p:txBody>
      </p:sp>
      <p:sp>
        <p:nvSpPr>
          <p:cNvPr id="17" name="Text 14"/>
          <p:cNvSpPr txBox="1"/>
          <p:nvPr/>
        </p:nvSpPr>
        <p:spPr>
          <a:xfrm>
            <a:off x="4480560" y="2651760"/>
            <a:ext cx="3200400" cy="548640"/>
          </a:xfrm>
          <a:prstGeom prst="rect">
            <a:avLst/>
          </a:prstGeom>
          <a:noFill/>
          <a:ln/>
        </p:spPr>
        <p:txBody>
          <a:bodyPr wrap="square" lIns="0" tIns="0" rIns="0" bIns="0" rtlCol="0" anchor="t"/>
          <a:lstStyle/>
          <a:p>
            <a:pPr indent="0" marL="0">
              <a:buNone/>
            </a:pPr>
            <a:r>
              <a:rPr lang="en-US" sz="1100" i="1" dirty="0">
                <a:solidFill>
                  <a:srgbClr val="5F6068"/>
                </a:solidFill>
                <a:latin typeface="Calibri" pitchFamily="34" charset="0"/>
                <a:ea typeface="Calibri" pitchFamily="34" charset="-122"/>
                <a:cs typeface="Calibri" pitchFamily="34" charset="-120"/>
              </a:rPr>
              <a:t>Check: Deflections a thousand times too big.</a:t>
            </a:r>
            <a:endParaRPr lang="en-US" sz="1100" dirty="0"/>
          </a:p>
        </p:txBody>
      </p:sp>
      <p:sp>
        <p:nvSpPr>
          <p:cNvPr id="18" name="Shape 15"/>
          <p:cNvSpPr/>
          <p:nvPr/>
        </p:nvSpPr>
        <p:spPr>
          <a:xfrm>
            <a:off x="8046720" y="1325880"/>
            <a:ext cx="3566160" cy="1920240"/>
          </a:xfrm>
          <a:prstGeom prst="roundRect">
            <a:avLst>
              <a:gd name="adj" fmla="val 4762"/>
            </a:avLst>
          </a:prstGeom>
          <a:solidFill>
            <a:srgbClr val="F1ECF8"/>
          </a:solidFill>
          <a:ln w="12700">
            <a:solidFill>
              <a:srgbClr val="F1ECF8"/>
            </a:solidFill>
            <a:prstDash val="solid"/>
          </a:ln>
        </p:spPr>
      </p:sp>
      <p:sp>
        <p:nvSpPr>
          <p:cNvPr id="19" name="Shape 16"/>
          <p:cNvSpPr/>
          <p:nvPr/>
        </p:nvSpPr>
        <p:spPr>
          <a:xfrm>
            <a:off x="8229600" y="1508760"/>
            <a:ext cx="457200" cy="457200"/>
          </a:xfrm>
          <a:prstGeom prst="ellipse">
            <a:avLst/>
          </a:prstGeom>
          <a:solidFill>
            <a:srgbClr val="D9950A"/>
          </a:solidFill>
          <a:ln/>
        </p:spPr>
      </p:sp>
      <p:sp>
        <p:nvSpPr>
          <p:cNvPr id="20" name="Text 17"/>
          <p:cNvSpPr txBox="1"/>
          <p:nvPr/>
        </p:nvSpPr>
        <p:spPr>
          <a:xfrm>
            <a:off x="822960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8"/>
          <p:cNvSpPr txBox="1"/>
          <p:nvPr/>
        </p:nvSpPr>
        <p:spPr>
          <a:xfrm>
            <a:off x="8823960" y="1508760"/>
            <a:ext cx="2651760" cy="45720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Mantissa without exponent</a:t>
            </a:r>
            <a:endParaRPr lang="en-US" sz="1400" dirty="0"/>
          </a:p>
        </p:txBody>
      </p:sp>
      <p:sp>
        <p:nvSpPr>
          <p:cNvPr id="22" name="Text 19"/>
          <p:cNvSpPr txBox="1"/>
          <p:nvPr/>
        </p:nvSpPr>
        <p:spPr>
          <a:xfrm>
            <a:off x="8229600" y="2103120"/>
            <a:ext cx="3200400" cy="54864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α = 0.65 /°F instead of 6.5e-6.</a:t>
            </a:r>
            <a:endParaRPr lang="en-US" sz="1200" dirty="0"/>
          </a:p>
        </p:txBody>
      </p:sp>
      <p:sp>
        <p:nvSpPr>
          <p:cNvPr id="23" name="Text 20"/>
          <p:cNvSpPr txBox="1"/>
          <p:nvPr/>
        </p:nvSpPr>
        <p:spPr>
          <a:xfrm>
            <a:off x="8229600" y="2651760"/>
            <a:ext cx="3200400" cy="548640"/>
          </a:xfrm>
          <a:prstGeom prst="rect">
            <a:avLst/>
          </a:prstGeom>
          <a:noFill/>
          <a:ln/>
        </p:spPr>
        <p:txBody>
          <a:bodyPr wrap="square" lIns="0" tIns="0" rIns="0" bIns="0" rtlCol="0" anchor="t"/>
          <a:lstStyle/>
          <a:p>
            <a:pPr indent="0" marL="0">
              <a:buNone/>
            </a:pPr>
            <a:r>
              <a:rPr lang="en-US" sz="1100" i="1" dirty="0">
                <a:solidFill>
                  <a:srgbClr val="5F6068"/>
                </a:solidFill>
                <a:latin typeface="Calibri" pitchFamily="34" charset="0"/>
                <a:ea typeface="Calibri" pitchFamily="34" charset="-122"/>
                <a:cs typeface="Calibri" pitchFamily="34" charset="-120"/>
              </a:rPr>
              <a:t>Check: A 20 °F rise stretches steel by 13 ft per ft.</a:t>
            </a:r>
            <a:endParaRPr lang="en-US" sz="1100" dirty="0"/>
          </a:p>
        </p:txBody>
      </p:sp>
      <p:sp>
        <p:nvSpPr>
          <p:cNvPr id="24" name="Shape 21"/>
          <p:cNvSpPr/>
          <p:nvPr/>
        </p:nvSpPr>
        <p:spPr>
          <a:xfrm>
            <a:off x="548640" y="3429000"/>
            <a:ext cx="3566160" cy="1920240"/>
          </a:xfrm>
          <a:prstGeom prst="roundRect">
            <a:avLst>
              <a:gd name="adj" fmla="val 4762"/>
            </a:avLst>
          </a:prstGeom>
          <a:solidFill>
            <a:srgbClr val="F1ECF8"/>
          </a:solidFill>
          <a:ln w="12700">
            <a:solidFill>
              <a:srgbClr val="F1ECF8"/>
            </a:solidFill>
            <a:prstDash val="solid"/>
          </a:ln>
        </p:spPr>
      </p:sp>
      <p:sp>
        <p:nvSpPr>
          <p:cNvPr id="25" name="Shape 22"/>
          <p:cNvSpPr/>
          <p:nvPr/>
        </p:nvSpPr>
        <p:spPr>
          <a:xfrm>
            <a:off x="731520" y="3611880"/>
            <a:ext cx="457200" cy="457200"/>
          </a:xfrm>
          <a:prstGeom prst="ellipse">
            <a:avLst/>
          </a:prstGeom>
          <a:solidFill>
            <a:srgbClr val="D9950A"/>
          </a:solidFill>
          <a:ln/>
        </p:spPr>
      </p:sp>
      <p:sp>
        <p:nvSpPr>
          <p:cNvPr id="26" name="Text 23"/>
          <p:cNvSpPr txBox="1"/>
          <p:nvPr/>
        </p:nvSpPr>
        <p:spPr>
          <a:xfrm>
            <a:off x="73152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7" name="Text 24"/>
          <p:cNvSpPr txBox="1"/>
          <p:nvPr/>
        </p:nvSpPr>
        <p:spPr>
          <a:xfrm>
            <a:off x="1325880" y="3611880"/>
            <a:ext cx="2651760" cy="45720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kip·in vs kip·ft</a:t>
            </a:r>
            <a:endParaRPr lang="en-US" sz="1400" dirty="0"/>
          </a:p>
        </p:txBody>
      </p:sp>
      <p:sp>
        <p:nvSpPr>
          <p:cNvPr id="28" name="Text 25"/>
          <p:cNvSpPr txBox="1"/>
          <p:nvPr/>
        </p:nvSpPr>
        <p:spPr>
          <a:xfrm>
            <a:off x="731520" y="4206240"/>
            <a:ext cx="3200400" cy="54864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Moments off by 12.</a:t>
            </a:r>
            <a:endParaRPr lang="en-US" sz="1200" dirty="0"/>
          </a:p>
        </p:txBody>
      </p:sp>
      <p:sp>
        <p:nvSpPr>
          <p:cNvPr id="29" name="Text 26"/>
          <p:cNvSpPr txBox="1"/>
          <p:nvPr/>
        </p:nvSpPr>
        <p:spPr>
          <a:xfrm>
            <a:off x="731520" y="4754880"/>
            <a:ext cx="3200400" cy="548640"/>
          </a:xfrm>
          <a:prstGeom prst="rect">
            <a:avLst/>
          </a:prstGeom>
          <a:noFill/>
          <a:ln/>
        </p:spPr>
        <p:txBody>
          <a:bodyPr wrap="square" lIns="0" tIns="0" rIns="0" bIns="0" rtlCol="0" anchor="t"/>
          <a:lstStyle/>
          <a:p>
            <a:pPr indent="0" marL="0">
              <a:buNone/>
            </a:pPr>
            <a:r>
              <a:rPr lang="en-US" sz="1100" i="1" dirty="0">
                <a:solidFill>
                  <a:srgbClr val="5F6068"/>
                </a:solidFill>
                <a:latin typeface="Calibri" pitchFamily="34" charset="0"/>
                <a:ea typeface="Calibri" pitchFamily="34" charset="-122"/>
                <a:cs typeface="Calibri" pitchFamily="34" charset="-120"/>
              </a:rPr>
              <a:t>Check: Compare one member moment against hand statics.</a:t>
            </a:r>
            <a:endParaRPr lang="en-US" sz="1100" dirty="0"/>
          </a:p>
        </p:txBody>
      </p:sp>
      <p:sp>
        <p:nvSpPr>
          <p:cNvPr id="30" name="Shape 27"/>
          <p:cNvSpPr/>
          <p:nvPr/>
        </p:nvSpPr>
        <p:spPr>
          <a:xfrm>
            <a:off x="4297680" y="3429000"/>
            <a:ext cx="3566160" cy="1920240"/>
          </a:xfrm>
          <a:prstGeom prst="roundRect">
            <a:avLst>
              <a:gd name="adj" fmla="val 4762"/>
            </a:avLst>
          </a:prstGeom>
          <a:solidFill>
            <a:srgbClr val="F1ECF8"/>
          </a:solidFill>
          <a:ln w="12700">
            <a:solidFill>
              <a:srgbClr val="F1ECF8"/>
            </a:solidFill>
            <a:prstDash val="solid"/>
          </a:ln>
        </p:spPr>
      </p:sp>
      <p:sp>
        <p:nvSpPr>
          <p:cNvPr id="31" name="Shape 28"/>
          <p:cNvSpPr/>
          <p:nvPr/>
        </p:nvSpPr>
        <p:spPr>
          <a:xfrm>
            <a:off x="4480560" y="3611880"/>
            <a:ext cx="457200" cy="457200"/>
          </a:xfrm>
          <a:prstGeom prst="ellipse">
            <a:avLst/>
          </a:prstGeom>
          <a:solidFill>
            <a:srgbClr val="D9950A"/>
          </a:solidFill>
          <a:ln/>
        </p:spPr>
      </p:sp>
      <p:sp>
        <p:nvSpPr>
          <p:cNvPr id="32" name="Text 29"/>
          <p:cNvSpPr txBox="1"/>
          <p:nvPr/>
        </p:nvSpPr>
        <p:spPr>
          <a:xfrm>
            <a:off x="448056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3" name="Text 30"/>
          <p:cNvSpPr txBox="1"/>
          <p:nvPr/>
        </p:nvSpPr>
        <p:spPr>
          <a:xfrm>
            <a:off x="5074920" y="3611880"/>
            <a:ext cx="2651760" cy="45720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MPa in a ksi column</a:t>
            </a:r>
            <a:endParaRPr lang="en-US" sz="1400" dirty="0"/>
          </a:p>
        </p:txBody>
      </p:sp>
      <p:sp>
        <p:nvSpPr>
          <p:cNvPr id="34" name="Text 31"/>
          <p:cNvSpPr txBox="1"/>
          <p:nvPr/>
        </p:nvSpPr>
        <p:spPr>
          <a:xfrm>
            <a:off x="4480560" y="4206240"/>
            <a:ext cx="3200400" cy="54864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The SS1 row: E 6.7 times steel.</a:t>
            </a:r>
            <a:endParaRPr lang="en-US" sz="1200" dirty="0"/>
          </a:p>
        </p:txBody>
      </p:sp>
      <p:sp>
        <p:nvSpPr>
          <p:cNvPr id="35" name="Text 32"/>
          <p:cNvSpPr txBox="1"/>
          <p:nvPr/>
        </p:nvSpPr>
        <p:spPr>
          <a:xfrm>
            <a:off x="4480560" y="4754880"/>
            <a:ext cx="3200400" cy="548640"/>
          </a:xfrm>
          <a:prstGeom prst="rect">
            <a:avLst/>
          </a:prstGeom>
          <a:noFill/>
          <a:ln/>
        </p:spPr>
        <p:txBody>
          <a:bodyPr wrap="square" lIns="0" tIns="0" rIns="0" bIns="0" rtlCol="0" anchor="t"/>
          <a:lstStyle/>
          <a:p>
            <a:pPr indent="0" marL="0">
              <a:buNone/>
            </a:pPr>
            <a:r>
              <a:rPr lang="en-US" sz="1100" i="1" dirty="0">
                <a:solidFill>
                  <a:srgbClr val="5F6068"/>
                </a:solidFill>
                <a:latin typeface="Calibri" pitchFamily="34" charset="0"/>
                <a:ea typeface="Calibri" pitchFamily="34" charset="-122"/>
                <a:cs typeface="Calibri" pitchFamily="34" charset="-120"/>
              </a:rPr>
              <a:t>Check: Range check: E between 1 and 250 GPa.</a:t>
            </a:r>
            <a:endParaRPr lang="en-US" sz="1100" dirty="0"/>
          </a:p>
        </p:txBody>
      </p:sp>
      <p:sp>
        <p:nvSpPr>
          <p:cNvPr id="36" name="Shape 33"/>
          <p:cNvSpPr/>
          <p:nvPr/>
        </p:nvSpPr>
        <p:spPr>
          <a:xfrm>
            <a:off x="8046720" y="3429000"/>
            <a:ext cx="3566160" cy="1920240"/>
          </a:xfrm>
          <a:prstGeom prst="roundRect">
            <a:avLst>
              <a:gd name="adj" fmla="val 4762"/>
            </a:avLst>
          </a:prstGeom>
          <a:solidFill>
            <a:srgbClr val="F1ECF8"/>
          </a:solidFill>
          <a:ln w="12700">
            <a:solidFill>
              <a:srgbClr val="F1ECF8"/>
            </a:solidFill>
            <a:prstDash val="solid"/>
          </a:ln>
        </p:spPr>
      </p:sp>
      <p:sp>
        <p:nvSpPr>
          <p:cNvPr id="37" name="Shape 34"/>
          <p:cNvSpPr/>
          <p:nvPr/>
        </p:nvSpPr>
        <p:spPr>
          <a:xfrm>
            <a:off x="8229600" y="3611880"/>
            <a:ext cx="457200" cy="457200"/>
          </a:xfrm>
          <a:prstGeom prst="ellipse">
            <a:avLst/>
          </a:prstGeom>
          <a:solidFill>
            <a:srgbClr val="D9950A"/>
          </a:solidFill>
          <a:ln/>
        </p:spPr>
      </p:sp>
      <p:sp>
        <p:nvSpPr>
          <p:cNvPr id="38" name="Text 35"/>
          <p:cNvSpPr txBox="1"/>
          <p:nvPr/>
        </p:nvSpPr>
        <p:spPr>
          <a:xfrm>
            <a:off x="822960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9" name="Text 36"/>
          <p:cNvSpPr txBox="1"/>
          <p:nvPr/>
        </p:nvSpPr>
        <p:spPr>
          <a:xfrm>
            <a:off x="8823960" y="3611880"/>
            <a:ext cx="2651760" cy="457200"/>
          </a:xfrm>
          <a:prstGeom prst="rect">
            <a:avLst/>
          </a:prstGeom>
          <a:noFill/>
          <a:ln/>
        </p:spPr>
        <p:txBody>
          <a:bodyPr wrap="square" lIns="0" tIns="0" rIns="0" bIns="0" rtlCol="0" anchor="ctr"/>
          <a:lstStyle/>
          <a:p>
            <a:pPr indent="0" marL="0">
              <a:buNone/>
            </a:pPr>
            <a:r>
              <a:rPr lang="en-US" sz="1400" b="1" dirty="0">
                <a:solidFill>
                  <a:srgbClr val="5B2A86"/>
                </a:solidFill>
                <a:latin typeface="Calibri" pitchFamily="34" charset="0"/>
                <a:ea typeface="Calibri" pitchFamily="34" charset="-122"/>
                <a:cs typeface="Calibri" pitchFamily="34" charset="-120"/>
              </a:rPr>
              <a:t>Geometry in ft, sections in in</a:t>
            </a:r>
            <a:endParaRPr lang="en-US" sz="1400" dirty="0"/>
          </a:p>
        </p:txBody>
      </p:sp>
      <p:sp>
        <p:nvSpPr>
          <p:cNvPr id="40" name="Text 37"/>
          <p:cNvSpPr txBox="1"/>
          <p:nvPr/>
        </p:nvSpPr>
        <p:spPr>
          <a:xfrm>
            <a:off x="8229600" y="4206240"/>
            <a:ext cx="3200400" cy="548640"/>
          </a:xfrm>
          <a:prstGeom prst="rect">
            <a:avLst/>
          </a:prstGeom>
          <a:noFill/>
          <a:ln/>
        </p:spPr>
        <p:txBody>
          <a:bodyPr wrap="square" lIns="0" tIns="0" rIns="0" bIns="0" rtlCol="0" anchor="t"/>
          <a:lstStyle/>
          <a:p>
            <a:pPr indent="0" marL="0">
              <a:buNone/>
            </a:pPr>
            <a:r>
              <a:rPr lang="en-US" sz="1200" dirty="0">
                <a:solidFill>
                  <a:srgbClr val="1F1F24"/>
                </a:solidFill>
                <a:latin typeface="Calibri" pitchFamily="34" charset="0"/>
                <a:ea typeface="Calibri" pitchFamily="34" charset="-122"/>
                <a:cs typeface="Calibri" pitchFamily="34" charset="-120"/>
              </a:rPr>
              <a:t>I/L³ off by 12³ = 1,728.</a:t>
            </a:r>
            <a:endParaRPr lang="en-US" sz="1200" dirty="0"/>
          </a:p>
        </p:txBody>
      </p:sp>
      <p:sp>
        <p:nvSpPr>
          <p:cNvPr id="41" name="Text 38"/>
          <p:cNvSpPr txBox="1"/>
          <p:nvPr/>
        </p:nvSpPr>
        <p:spPr>
          <a:xfrm>
            <a:off x="8229600" y="4754880"/>
            <a:ext cx="3200400" cy="548640"/>
          </a:xfrm>
          <a:prstGeom prst="rect">
            <a:avLst/>
          </a:prstGeom>
          <a:noFill/>
          <a:ln/>
        </p:spPr>
        <p:txBody>
          <a:bodyPr wrap="square" lIns="0" tIns="0" rIns="0" bIns="0" rtlCol="0" anchor="t"/>
          <a:lstStyle/>
          <a:p>
            <a:pPr indent="0" marL="0">
              <a:buNone/>
            </a:pPr>
            <a:r>
              <a:rPr lang="en-US" sz="1100" i="1" dirty="0">
                <a:solidFill>
                  <a:srgbClr val="5F6068"/>
                </a:solidFill>
                <a:latin typeface="Calibri" pitchFamily="34" charset="0"/>
                <a:ea typeface="Calibri" pitchFamily="34" charset="-122"/>
                <a:cs typeface="Calibri" pitchFamily="34" charset="-120"/>
              </a:rPr>
              <a:t>Check: Convert all lengths to one unit at input.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5B2A86"/>
          </a:solidFill>
          <a:ln/>
        </p:spPr>
      </p:sp>
      <p:pic>
        <p:nvPicPr>
          <p:cNvPr id="3" name="Image 0" descr="preencoded.png">    </p:cNvPr>
          <p:cNvPicPr>
            <a:picLocks noChangeAspect="1"/>
          </p:cNvPicPr>
          <p:nvPr/>
        </p:nvPicPr>
        <p:blipFill>
          <a:blip r:embed="rId1"/>
          <a:stretch>
            <a:fillRect/>
          </a:stretch>
        </p:blipFill>
        <p:spPr>
          <a:xfrm>
            <a:off x="676656" y="585216"/>
            <a:ext cx="310896" cy="310896"/>
          </a:xfrm>
          <a:prstGeom prst="rect">
            <a:avLst/>
          </a:prstGeom>
        </p:spPr>
      </p:pic>
      <p:sp>
        <p:nvSpPr>
          <p:cNvPr id="4" name="Text 1"/>
          <p:cNvSpPr txBox="1"/>
          <p:nvPr/>
        </p:nvSpPr>
        <p:spPr>
          <a:xfrm>
            <a:off x="1280160" y="384048"/>
            <a:ext cx="9601200" cy="731520"/>
          </a:xfrm>
          <a:prstGeom prst="rect">
            <a:avLst/>
          </a:prstGeom>
          <a:noFill/>
          <a:ln/>
        </p:spPr>
        <p:txBody>
          <a:bodyPr wrap="square" lIns="0" tIns="0" rIns="0" bIns="0" rtlCol="0" anchor="ctr"/>
          <a:lstStyle/>
          <a:p>
            <a:pPr indent="0" marL="0">
              <a:buNone/>
            </a:pPr>
            <a:r>
              <a:rPr lang="en-US" sz="3000" b="1" dirty="0">
                <a:solidFill>
                  <a:srgbClr val="1F1F24"/>
                </a:solidFill>
                <a:latin typeface="Cambria" pitchFamily="34" charset="0"/>
                <a:ea typeface="Cambria" pitchFamily="34" charset="-122"/>
                <a:cs typeface="Cambria" pitchFamily="34" charset="-120"/>
              </a:rPr>
              <a:t>What is in Units_Imperial_Metric.xlsx</a:t>
            </a:r>
            <a:endParaRPr lang="en-US" sz="3000" dirty="0"/>
          </a:p>
        </p:txBody>
      </p:sp>
      <p:sp>
        <p:nvSpPr>
          <p:cNvPr id="5" name="Text 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068"/>
                </a:solidFill>
                <a:latin typeface="Calibri" pitchFamily="34" charset="0"/>
                <a:ea typeface="Calibri" pitchFamily="34" charset="-122"/>
                <a:cs typeface="Calibri" pitchFamily="34" charset="-120"/>
              </a:rPr>
              <a:t>Python Solver Rev.2  |  Units  |  11</a:t>
            </a:r>
            <a:endParaRPr lang="en-US" sz="1000" dirty="0"/>
          </a:p>
        </p:txBody>
      </p:sp>
      <p:sp>
        <p:nvSpPr>
          <p:cNvPr id="6" name="Shape 3"/>
          <p:cNvSpPr/>
          <p:nvPr/>
        </p:nvSpPr>
        <p:spPr>
          <a:xfrm>
            <a:off x="548640" y="1325880"/>
            <a:ext cx="11064240" cy="841248"/>
          </a:xfrm>
          <a:prstGeom prst="roundRect">
            <a:avLst>
              <a:gd name="adj" fmla="val 8696"/>
            </a:avLst>
          </a:prstGeom>
          <a:solidFill>
            <a:srgbClr val="F1ECF8"/>
          </a:solidFill>
          <a:ln w="12700">
            <a:solidFill>
              <a:srgbClr val="F1ECF8"/>
            </a:solidFill>
            <a:prstDash val="solid"/>
          </a:ln>
        </p:spPr>
      </p:sp>
      <p:sp>
        <p:nvSpPr>
          <p:cNvPr id="7" name="Text 4"/>
          <p:cNvSpPr txBox="1"/>
          <p:nvPr/>
        </p:nvSpPr>
        <p:spPr>
          <a:xfrm>
            <a:off x="777240" y="1417320"/>
            <a:ext cx="2743200" cy="640080"/>
          </a:xfrm>
          <a:prstGeom prst="rect">
            <a:avLst/>
          </a:prstGeom>
          <a:noFill/>
          <a:ln/>
        </p:spPr>
        <p:txBody>
          <a:bodyPr wrap="square" lIns="0" tIns="0" rIns="0" bIns="0" rtlCol="0" anchor="ctr"/>
          <a:lstStyle/>
          <a:p>
            <a:pPr indent="0" marL="0">
              <a:buNone/>
            </a:pPr>
            <a:r>
              <a:rPr lang="en-US" sz="1500" b="1" dirty="0">
                <a:solidFill>
                  <a:srgbClr val="5B2A86"/>
                </a:solidFill>
                <a:latin typeface="Calibri" pitchFamily="34" charset="0"/>
                <a:ea typeface="Calibri" pitchFamily="34" charset="-122"/>
                <a:cs typeface="Calibri" pitchFamily="34" charset="-120"/>
              </a:rPr>
              <a:t>Conversion Factors</a:t>
            </a:r>
            <a:endParaRPr lang="en-US" sz="1500" dirty="0"/>
          </a:p>
        </p:txBody>
      </p:sp>
      <p:sp>
        <p:nvSpPr>
          <p:cNvPr id="8" name="Text 5"/>
          <p:cNvSpPr txBox="1"/>
          <p:nvPr/>
        </p:nvSpPr>
        <p:spPr>
          <a:xfrm>
            <a:off x="3657600" y="1417320"/>
            <a:ext cx="7772400" cy="640080"/>
          </a:xfrm>
          <a:prstGeom prst="rect">
            <a:avLst/>
          </a:prstGeom>
          <a:noFill/>
          <a:ln/>
        </p:spPr>
        <p:txBody>
          <a:bodyPr wrap="square" lIns="0" tIns="0" rIns="0" bIns="0" rtlCol="0" anchor="ctr"/>
          <a:lstStyle/>
          <a:p>
            <a:pPr indent="0" marL="0">
              <a:buNone/>
            </a:pPr>
            <a:r>
              <a:rPr lang="en-US" sz="1200" dirty="0">
                <a:solidFill>
                  <a:srgbClr val="1F1F24"/>
                </a:solidFill>
                <a:latin typeface="Calibri" pitchFamily="34" charset="0"/>
                <a:ea typeface="Calibri" pitchFamily="34" charset="-122"/>
                <a:cs typeface="Calibri" pitchFamily="34" charset="-120"/>
              </a:rPr>
              <a:t>Three exact constants in yellow cells; twenty derived factors as formulas, each with its reciprocal and its derivation spelled out.</a:t>
            </a:r>
            <a:endParaRPr lang="en-US" sz="1200" dirty="0"/>
          </a:p>
        </p:txBody>
      </p:sp>
      <p:sp>
        <p:nvSpPr>
          <p:cNvPr id="9" name="Shape 6"/>
          <p:cNvSpPr/>
          <p:nvPr/>
        </p:nvSpPr>
        <p:spPr>
          <a:xfrm>
            <a:off x="548640" y="2286000"/>
            <a:ext cx="11064240" cy="841248"/>
          </a:xfrm>
          <a:prstGeom prst="roundRect">
            <a:avLst>
              <a:gd name="adj" fmla="val 8696"/>
            </a:avLst>
          </a:prstGeom>
          <a:solidFill>
            <a:srgbClr val="FFFFFF"/>
          </a:solidFill>
          <a:ln w="12700">
            <a:solidFill>
              <a:srgbClr val="D9D4E3"/>
            </a:solidFill>
            <a:prstDash val="solid"/>
          </a:ln>
        </p:spPr>
      </p:sp>
      <p:sp>
        <p:nvSpPr>
          <p:cNvPr id="10" name="Text 7"/>
          <p:cNvSpPr txBox="1"/>
          <p:nvPr/>
        </p:nvSpPr>
        <p:spPr>
          <a:xfrm>
            <a:off x="777240" y="2377440"/>
            <a:ext cx="2743200" cy="640080"/>
          </a:xfrm>
          <a:prstGeom prst="rect">
            <a:avLst/>
          </a:prstGeom>
          <a:noFill/>
          <a:ln/>
        </p:spPr>
        <p:txBody>
          <a:bodyPr wrap="square" lIns="0" tIns="0" rIns="0" bIns="0" rtlCol="0" anchor="ctr"/>
          <a:lstStyle/>
          <a:p>
            <a:pPr indent="0" marL="0">
              <a:buNone/>
            </a:pPr>
            <a:r>
              <a:rPr lang="en-US" sz="1500" b="1" dirty="0">
                <a:solidFill>
                  <a:srgbClr val="5B2A86"/>
                </a:solidFill>
                <a:latin typeface="Calibri" pitchFamily="34" charset="0"/>
                <a:ea typeface="Calibri" pitchFamily="34" charset="-122"/>
                <a:cs typeface="Calibri" pitchFamily="34" charset="-120"/>
              </a:rPr>
              <a:t>Unit Systems</a:t>
            </a:r>
            <a:endParaRPr lang="en-US" sz="1500" dirty="0"/>
          </a:p>
        </p:txBody>
      </p:sp>
      <p:sp>
        <p:nvSpPr>
          <p:cNvPr id="11" name="Text 8"/>
          <p:cNvSpPr txBox="1"/>
          <p:nvPr/>
        </p:nvSpPr>
        <p:spPr>
          <a:xfrm>
            <a:off x="3657600" y="2377440"/>
            <a:ext cx="7772400" cy="640080"/>
          </a:xfrm>
          <a:prstGeom prst="rect">
            <a:avLst/>
          </a:prstGeom>
          <a:noFill/>
          <a:ln/>
        </p:spPr>
        <p:txBody>
          <a:bodyPr wrap="square" lIns="0" tIns="0" rIns="0" bIns="0" rtlCol="0" anchor="ctr"/>
          <a:lstStyle/>
          <a:p>
            <a:pPr indent="0" marL="0">
              <a:buNone/>
            </a:pPr>
            <a:r>
              <a:rPr lang="en-US" sz="1200" dirty="0">
                <a:solidFill>
                  <a:srgbClr val="1F1F24"/>
                </a:solidFill>
                <a:latin typeface="Calibri" pitchFamily="34" charset="0"/>
                <a:ea typeface="Calibri" pitchFamily="34" charset="-122"/>
                <a:cs typeface="Calibri" pitchFamily="34" charset="-120"/>
              </a:rPr>
              <a:t>Sixteen quantities with the Imperial unit, the Metric unit, the solver's internal dimension, and what to watch for.</a:t>
            </a:r>
            <a:endParaRPr lang="en-US" sz="1200" dirty="0"/>
          </a:p>
        </p:txBody>
      </p:sp>
      <p:sp>
        <p:nvSpPr>
          <p:cNvPr id="12" name="Shape 9"/>
          <p:cNvSpPr/>
          <p:nvPr/>
        </p:nvSpPr>
        <p:spPr>
          <a:xfrm>
            <a:off x="548640" y="3246120"/>
            <a:ext cx="11064240" cy="841248"/>
          </a:xfrm>
          <a:prstGeom prst="roundRect">
            <a:avLst>
              <a:gd name="adj" fmla="val 8696"/>
            </a:avLst>
          </a:prstGeom>
          <a:solidFill>
            <a:srgbClr val="F1ECF8"/>
          </a:solidFill>
          <a:ln w="12700">
            <a:solidFill>
              <a:srgbClr val="F1ECF8"/>
            </a:solidFill>
            <a:prstDash val="solid"/>
          </a:ln>
        </p:spPr>
      </p:sp>
      <p:sp>
        <p:nvSpPr>
          <p:cNvPr id="13" name="Text 10"/>
          <p:cNvSpPr txBox="1"/>
          <p:nvPr/>
        </p:nvSpPr>
        <p:spPr>
          <a:xfrm>
            <a:off x="777240" y="3337560"/>
            <a:ext cx="2743200" cy="640080"/>
          </a:xfrm>
          <a:prstGeom prst="rect">
            <a:avLst/>
          </a:prstGeom>
          <a:noFill/>
          <a:ln/>
        </p:spPr>
        <p:txBody>
          <a:bodyPr wrap="square" lIns="0" tIns="0" rIns="0" bIns="0" rtlCol="0" anchor="ctr"/>
          <a:lstStyle/>
          <a:p>
            <a:pPr indent="0" marL="0">
              <a:buNone/>
            </a:pPr>
            <a:r>
              <a:rPr lang="en-US" sz="1500" b="1" dirty="0">
                <a:solidFill>
                  <a:srgbClr val="5B2A86"/>
                </a:solidFill>
                <a:latin typeface="Calibri" pitchFamily="34" charset="0"/>
                <a:ea typeface="Calibri" pitchFamily="34" charset="-122"/>
                <a:cs typeface="Calibri" pitchFamily="34" charset="-120"/>
              </a:rPr>
              <a:t>Materials (Imperial)</a:t>
            </a:r>
            <a:endParaRPr lang="en-US" sz="1500" dirty="0"/>
          </a:p>
        </p:txBody>
      </p:sp>
      <p:sp>
        <p:nvSpPr>
          <p:cNvPr id="14" name="Text 11"/>
          <p:cNvSpPr txBox="1"/>
          <p:nvPr/>
        </p:nvSpPr>
        <p:spPr>
          <a:xfrm>
            <a:off x="3657600" y="3337560"/>
            <a:ext cx="7772400" cy="640080"/>
          </a:xfrm>
          <a:prstGeom prst="rect">
            <a:avLst/>
          </a:prstGeom>
          <a:noFill/>
          <a:ln/>
        </p:spPr>
        <p:txBody>
          <a:bodyPr wrap="square" lIns="0" tIns="0" rIns="0" bIns="0" rtlCol="0" anchor="ctr"/>
          <a:lstStyle/>
          <a:p>
            <a:pPr indent="0" marL="0">
              <a:buNone/>
            </a:pPr>
            <a:r>
              <a:rPr lang="en-US" sz="1200" dirty="0">
                <a:solidFill>
                  <a:srgbClr val="1F1F24"/>
                </a:solidFill>
                <a:latin typeface="Calibri" pitchFamily="34" charset="0"/>
                <a:ea typeface="Calibri" pitchFamily="34" charset="-122"/>
                <a:cs typeface="Calibri" pitchFamily="34" charset="-120"/>
              </a:rPr>
              <a:t>All 41 RISA materials as transcribed: E, G, ν, α, γ, strength and Fu in ksi, k/ft³ and 1e-5/°F.</a:t>
            </a:r>
            <a:endParaRPr lang="en-US" sz="1200" dirty="0"/>
          </a:p>
        </p:txBody>
      </p:sp>
      <p:sp>
        <p:nvSpPr>
          <p:cNvPr id="15" name="Shape 12"/>
          <p:cNvSpPr/>
          <p:nvPr/>
        </p:nvSpPr>
        <p:spPr>
          <a:xfrm>
            <a:off x="548640" y="4206240"/>
            <a:ext cx="11064240" cy="841248"/>
          </a:xfrm>
          <a:prstGeom prst="roundRect">
            <a:avLst>
              <a:gd name="adj" fmla="val 8696"/>
            </a:avLst>
          </a:prstGeom>
          <a:solidFill>
            <a:srgbClr val="FFFFFF"/>
          </a:solidFill>
          <a:ln w="12700">
            <a:solidFill>
              <a:srgbClr val="D9D4E3"/>
            </a:solidFill>
            <a:prstDash val="solid"/>
          </a:ln>
        </p:spPr>
      </p:sp>
      <p:sp>
        <p:nvSpPr>
          <p:cNvPr id="16" name="Text 13"/>
          <p:cNvSpPr txBox="1"/>
          <p:nvPr/>
        </p:nvSpPr>
        <p:spPr>
          <a:xfrm>
            <a:off x="777240" y="4297680"/>
            <a:ext cx="2743200" cy="640080"/>
          </a:xfrm>
          <a:prstGeom prst="rect">
            <a:avLst/>
          </a:prstGeom>
          <a:noFill/>
          <a:ln/>
        </p:spPr>
        <p:txBody>
          <a:bodyPr wrap="square" lIns="0" tIns="0" rIns="0" bIns="0" rtlCol="0" anchor="ctr"/>
          <a:lstStyle/>
          <a:p>
            <a:pPr indent="0" marL="0">
              <a:buNone/>
            </a:pPr>
            <a:r>
              <a:rPr lang="en-US" sz="1500" b="1" dirty="0">
                <a:solidFill>
                  <a:srgbClr val="5B2A86"/>
                </a:solidFill>
                <a:latin typeface="Calibri" pitchFamily="34" charset="0"/>
                <a:ea typeface="Calibri" pitchFamily="34" charset="-122"/>
                <a:cs typeface="Calibri" pitchFamily="34" charset="-120"/>
              </a:rPr>
              <a:t>Materials (Metric)</a:t>
            </a:r>
            <a:endParaRPr lang="en-US" sz="1500" dirty="0"/>
          </a:p>
        </p:txBody>
      </p:sp>
      <p:sp>
        <p:nvSpPr>
          <p:cNvPr id="17" name="Text 14"/>
          <p:cNvSpPr txBox="1"/>
          <p:nvPr/>
        </p:nvSpPr>
        <p:spPr>
          <a:xfrm>
            <a:off x="3657600" y="4297680"/>
            <a:ext cx="7772400" cy="640080"/>
          </a:xfrm>
          <a:prstGeom prst="rect">
            <a:avLst/>
          </a:prstGeom>
          <a:noFill/>
          <a:ln/>
        </p:spPr>
        <p:txBody>
          <a:bodyPr wrap="square" lIns="0" tIns="0" rIns="0" bIns="0" rtlCol="0" anchor="ctr"/>
          <a:lstStyle/>
          <a:p>
            <a:pPr indent="0" marL="0">
              <a:buNone/>
            </a:pPr>
            <a:r>
              <a:rPr lang="en-US" sz="1200" dirty="0">
                <a:solidFill>
                  <a:srgbClr val="1F1F24"/>
                </a:solidFill>
                <a:latin typeface="Calibri" pitchFamily="34" charset="0"/>
                <a:ea typeface="Calibri" pitchFamily="34" charset="-122"/>
                <a:cs typeface="Calibri" pitchFamily="34" charset="-120"/>
              </a:rPr>
              <a:t>The same 41 rows in MPa, GPa, kN/m³, kg/m³ and 1e-6/°C. Every cell is a formula linked to the Imperial sheet.</a:t>
            </a:r>
            <a:endParaRPr lang="en-US" sz="1200" dirty="0"/>
          </a:p>
        </p:txBody>
      </p:sp>
      <p:sp>
        <p:nvSpPr>
          <p:cNvPr id="18" name="Shape 15"/>
          <p:cNvSpPr/>
          <p:nvPr/>
        </p:nvSpPr>
        <p:spPr>
          <a:xfrm>
            <a:off x="548640" y="5166360"/>
            <a:ext cx="11064240" cy="841248"/>
          </a:xfrm>
          <a:prstGeom prst="roundRect">
            <a:avLst>
              <a:gd name="adj" fmla="val 8696"/>
            </a:avLst>
          </a:prstGeom>
          <a:solidFill>
            <a:srgbClr val="F1ECF8"/>
          </a:solidFill>
          <a:ln w="12700">
            <a:solidFill>
              <a:srgbClr val="F1ECF8"/>
            </a:solidFill>
            <a:prstDash val="solid"/>
          </a:ln>
        </p:spPr>
      </p:sp>
      <p:sp>
        <p:nvSpPr>
          <p:cNvPr id="19" name="Text 16"/>
          <p:cNvSpPr txBox="1"/>
          <p:nvPr/>
        </p:nvSpPr>
        <p:spPr>
          <a:xfrm>
            <a:off x="777240" y="5257800"/>
            <a:ext cx="2743200" cy="640080"/>
          </a:xfrm>
          <a:prstGeom prst="rect">
            <a:avLst/>
          </a:prstGeom>
          <a:noFill/>
          <a:ln/>
        </p:spPr>
        <p:txBody>
          <a:bodyPr wrap="square" lIns="0" tIns="0" rIns="0" bIns="0" rtlCol="0" anchor="ctr"/>
          <a:lstStyle/>
          <a:p>
            <a:pPr indent="0" marL="0">
              <a:buNone/>
            </a:pPr>
            <a:r>
              <a:rPr lang="en-US" sz="1500" b="1" dirty="0">
                <a:solidFill>
                  <a:srgbClr val="5B2A86"/>
                </a:solidFill>
                <a:latin typeface="Calibri" pitchFamily="34" charset="0"/>
                <a:ea typeface="Calibri" pitchFamily="34" charset="-122"/>
                <a:cs typeface="Calibri" pitchFamily="34" charset="-120"/>
              </a:rPr>
              <a:t>Converter</a:t>
            </a:r>
            <a:endParaRPr lang="en-US" sz="1500" dirty="0"/>
          </a:p>
        </p:txBody>
      </p:sp>
      <p:sp>
        <p:nvSpPr>
          <p:cNvPr id="20" name="Text 17"/>
          <p:cNvSpPr txBox="1"/>
          <p:nvPr/>
        </p:nvSpPr>
        <p:spPr>
          <a:xfrm>
            <a:off x="3657600" y="5257800"/>
            <a:ext cx="7772400" cy="640080"/>
          </a:xfrm>
          <a:prstGeom prst="rect">
            <a:avLst/>
          </a:prstGeom>
          <a:noFill/>
          <a:ln/>
        </p:spPr>
        <p:txBody>
          <a:bodyPr wrap="square" lIns="0" tIns="0" rIns="0" bIns="0" rtlCol="0" anchor="ctr"/>
          <a:lstStyle/>
          <a:p>
            <a:pPr indent="0" marL="0">
              <a:buNone/>
            </a:pPr>
            <a:r>
              <a:rPr lang="en-US" sz="1200" dirty="0">
                <a:solidFill>
                  <a:srgbClr val="1F1F24"/>
                </a:solidFill>
                <a:latin typeface="Calibri" pitchFamily="34" charset="0"/>
                <a:ea typeface="Calibri" pitchFamily="34" charset="-122"/>
                <a:cs typeface="Calibri" pitchFamily="34" charset="-120"/>
              </a:rPr>
              <a:t>Type an Imperial value on the left or a Metric value on the right; the other side computes. Temperature handled as an offset.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43A"/>
        </a:solidFill>
      </p:bgPr>
    </p:bg>
    <p:spTree>
      <p:nvGrpSpPr>
        <p:cNvPr id="1" name=""/>
        <p:cNvGrpSpPr/>
        <p:nvPr/>
      </p:nvGrpSpPr>
      <p:grpSpPr>
        <a:xfrm>
          <a:off x="0" y="0"/>
          <a:ext cx="0" cy="0"/>
          <a:chOff x="0" y="0"/>
          <a:chExt cx="0" cy="0"/>
        </a:xfrm>
      </p:grpSpPr>
      <p:sp>
        <p:nvSpPr>
          <p:cNvPr id="2" name="Shape 0"/>
          <p:cNvSpPr/>
          <p:nvPr/>
        </p:nvSpPr>
        <p:spPr>
          <a:xfrm>
            <a:off x="-1371600" y="3474720"/>
            <a:ext cx="5029200" cy="5029200"/>
          </a:xfrm>
          <a:prstGeom prst="ellipse">
            <a:avLst/>
          </a:prstGeom>
          <a:solidFill>
            <a:srgbClr val="5B2A86">
              <a:alpha val="45000"/>
            </a:srgbClr>
          </a:solidFill>
          <a:ln w="12700">
            <a:solidFill>
              <a:srgbClr val="5B2A86">
                <a:alpha val="45000"/>
              </a:srgbClr>
            </a:solidFill>
            <a:prstDash val="solid"/>
          </a:ln>
        </p:spPr>
      </p:sp>
      <p:sp>
        <p:nvSpPr>
          <p:cNvPr id="3" name="Text 1"/>
          <p:cNvSpPr txBox="1"/>
          <p:nvPr/>
        </p:nvSpPr>
        <p:spPr>
          <a:xfrm>
            <a:off x="731520" y="82296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Next steps</a:t>
            </a:r>
            <a:endParaRPr lang="en-US" sz="4000" dirty="0"/>
          </a:p>
        </p:txBody>
      </p:sp>
      <p:sp>
        <p:nvSpPr>
          <p:cNvPr id="4" name="Shape 2"/>
          <p:cNvSpPr/>
          <p:nvPr/>
        </p:nvSpPr>
        <p:spPr>
          <a:xfrm>
            <a:off x="731520" y="2103120"/>
            <a:ext cx="2606040" cy="2286000"/>
          </a:xfrm>
          <a:prstGeom prst="roundRect">
            <a:avLst>
              <a:gd name="adj" fmla="val 4000"/>
            </a:avLst>
          </a:prstGeom>
          <a:solidFill>
            <a:srgbClr val="2F3050"/>
          </a:solidFill>
          <a:ln w="12700">
            <a:solidFill>
              <a:srgbClr val="2F3050"/>
            </a:solidFill>
            <a:prstDash val="solid"/>
          </a:ln>
        </p:spPr>
      </p:sp>
      <p:sp>
        <p:nvSpPr>
          <p:cNvPr id="5" name="Text 3"/>
          <p:cNvSpPr txBox="1"/>
          <p:nvPr/>
        </p:nvSpPr>
        <p:spPr>
          <a:xfrm>
            <a:off x="960120" y="2286000"/>
            <a:ext cx="914400" cy="731520"/>
          </a:xfrm>
          <a:prstGeom prst="rect">
            <a:avLst/>
          </a:prstGeom>
          <a:noFill/>
          <a:ln/>
        </p:spPr>
        <p:txBody>
          <a:bodyPr wrap="square" lIns="0" tIns="0" rIns="0" bIns="0" rtlCol="0" anchor="ctr"/>
          <a:lstStyle/>
          <a:p>
            <a:pPr indent="0" marL="0">
              <a:buNone/>
            </a:pPr>
            <a:r>
              <a:rPr lang="en-US" sz="4000" b="1" dirty="0">
                <a:solidFill>
                  <a:srgbClr val="D9950A"/>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960120" y="3063240"/>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Adopt</a:t>
            </a:r>
            <a:endParaRPr lang="en-US" sz="1600" dirty="0"/>
          </a:p>
        </p:txBody>
      </p:sp>
      <p:sp>
        <p:nvSpPr>
          <p:cNvPr id="7" name="Text 5"/>
          <p:cNvSpPr txBox="1"/>
          <p:nvPr/>
        </p:nvSpPr>
        <p:spPr>
          <a:xfrm>
            <a:off x="960120" y="3474720"/>
            <a:ext cx="2194560" cy="1188720"/>
          </a:xfrm>
          <a:prstGeom prst="rect">
            <a:avLst/>
          </a:prstGeom>
          <a:noFill/>
          <a:ln/>
        </p:spPr>
        <p:txBody>
          <a:bodyPr wrap="square" lIns="0" tIns="0" rIns="0" bIns="0" rtlCol="0" anchor="t"/>
          <a:lstStyle/>
          <a:p>
            <a:pPr indent="0" marL="0">
              <a:buNone/>
            </a:pPr>
            <a:r>
              <a:rPr lang="en-US" sz="1200" dirty="0">
                <a:solidFill>
                  <a:srgbClr val="CFC7E2"/>
                </a:solidFill>
                <a:latin typeface="Calibri" pitchFamily="34" charset="0"/>
                <a:ea typeface="Calibri" pitchFamily="34" charset="-122"/>
                <a:cs typeface="Calibri" pitchFamily="34" charset="-120"/>
              </a:rPr>
              <a:t>Fix kN and m as the internal set in Rev.2 and move all conversions into one Units module.</a:t>
            </a:r>
            <a:endParaRPr lang="en-US" sz="1200" dirty="0"/>
          </a:p>
        </p:txBody>
      </p:sp>
      <p:sp>
        <p:nvSpPr>
          <p:cNvPr id="8" name="Shape 6"/>
          <p:cNvSpPr/>
          <p:nvPr/>
        </p:nvSpPr>
        <p:spPr>
          <a:xfrm>
            <a:off x="3520440" y="2103120"/>
            <a:ext cx="2606040" cy="2286000"/>
          </a:xfrm>
          <a:prstGeom prst="roundRect">
            <a:avLst>
              <a:gd name="adj" fmla="val 4000"/>
            </a:avLst>
          </a:prstGeom>
          <a:solidFill>
            <a:srgbClr val="2F3050"/>
          </a:solidFill>
          <a:ln w="12700">
            <a:solidFill>
              <a:srgbClr val="2F3050"/>
            </a:solidFill>
            <a:prstDash val="solid"/>
          </a:ln>
        </p:spPr>
      </p:sp>
      <p:sp>
        <p:nvSpPr>
          <p:cNvPr id="9" name="Text 7"/>
          <p:cNvSpPr txBox="1"/>
          <p:nvPr/>
        </p:nvSpPr>
        <p:spPr>
          <a:xfrm>
            <a:off x="3749040" y="2286000"/>
            <a:ext cx="914400" cy="731520"/>
          </a:xfrm>
          <a:prstGeom prst="rect">
            <a:avLst/>
          </a:prstGeom>
          <a:noFill/>
          <a:ln/>
        </p:spPr>
        <p:txBody>
          <a:bodyPr wrap="square" lIns="0" tIns="0" rIns="0" bIns="0" rtlCol="0" anchor="ctr"/>
          <a:lstStyle/>
          <a:p>
            <a:pPr indent="0" marL="0">
              <a:buNone/>
            </a:pPr>
            <a:r>
              <a:rPr lang="en-US" sz="4000" b="1" dirty="0">
                <a:solidFill>
                  <a:srgbClr val="D9950A"/>
                </a:solidFill>
                <a:latin typeface="Cambria" pitchFamily="34" charset="0"/>
                <a:ea typeface="Cambria" pitchFamily="34" charset="-122"/>
                <a:cs typeface="Cambria" pitchFamily="34" charset="-120"/>
              </a:rPr>
              <a:t>2</a:t>
            </a:r>
            <a:endParaRPr lang="en-US" sz="4000" dirty="0"/>
          </a:p>
        </p:txBody>
      </p:sp>
      <p:sp>
        <p:nvSpPr>
          <p:cNvPr id="10" name="Text 8"/>
          <p:cNvSpPr txBox="1"/>
          <p:nvPr/>
        </p:nvSpPr>
        <p:spPr>
          <a:xfrm>
            <a:off x="3749040" y="3063240"/>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Link</a:t>
            </a:r>
            <a:endParaRPr lang="en-US" sz="1600" dirty="0"/>
          </a:p>
        </p:txBody>
      </p:sp>
      <p:sp>
        <p:nvSpPr>
          <p:cNvPr id="11" name="Text 9"/>
          <p:cNvSpPr txBox="1"/>
          <p:nvPr/>
        </p:nvSpPr>
        <p:spPr>
          <a:xfrm>
            <a:off x="3749040" y="3474720"/>
            <a:ext cx="2194560" cy="1188720"/>
          </a:xfrm>
          <a:prstGeom prst="rect">
            <a:avLst/>
          </a:prstGeom>
          <a:noFill/>
          <a:ln/>
        </p:spPr>
        <p:txBody>
          <a:bodyPr wrap="square" lIns="0" tIns="0" rIns="0" bIns="0" rtlCol="0" anchor="t"/>
          <a:lstStyle/>
          <a:p>
            <a:pPr indent="0" marL="0">
              <a:buNone/>
            </a:pPr>
            <a:r>
              <a:rPr lang="en-US" sz="1200" dirty="0">
                <a:solidFill>
                  <a:srgbClr val="CFC7E2"/>
                </a:solidFill>
                <a:latin typeface="Calibri" pitchFamily="34" charset="0"/>
                <a:ea typeface="Calibri" pitchFamily="34" charset="-122"/>
                <a:cs typeface="Calibri" pitchFamily="34" charset="-120"/>
              </a:rPr>
              <a:t>Point the material reader at Materials (Imperial) or Materials (Metric) by a single flag.</a:t>
            </a:r>
            <a:endParaRPr lang="en-US" sz="1200" dirty="0"/>
          </a:p>
        </p:txBody>
      </p:sp>
      <p:sp>
        <p:nvSpPr>
          <p:cNvPr id="12" name="Shape 10"/>
          <p:cNvSpPr/>
          <p:nvPr/>
        </p:nvSpPr>
        <p:spPr>
          <a:xfrm>
            <a:off x="6309360" y="2103120"/>
            <a:ext cx="2606040" cy="2286000"/>
          </a:xfrm>
          <a:prstGeom prst="roundRect">
            <a:avLst>
              <a:gd name="adj" fmla="val 4000"/>
            </a:avLst>
          </a:prstGeom>
          <a:solidFill>
            <a:srgbClr val="2F3050"/>
          </a:solidFill>
          <a:ln w="12700">
            <a:solidFill>
              <a:srgbClr val="2F3050"/>
            </a:solidFill>
            <a:prstDash val="solid"/>
          </a:ln>
        </p:spPr>
      </p:sp>
      <p:sp>
        <p:nvSpPr>
          <p:cNvPr id="13" name="Text 11"/>
          <p:cNvSpPr txBox="1"/>
          <p:nvPr/>
        </p:nvSpPr>
        <p:spPr>
          <a:xfrm>
            <a:off x="6537960" y="2286000"/>
            <a:ext cx="914400" cy="731520"/>
          </a:xfrm>
          <a:prstGeom prst="rect">
            <a:avLst/>
          </a:prstGeom>
          <a:noFill/>
          <a:ln/>
        </p:spPr>
        <p:txBody>
          <a:bodyPr wrap="square" lIns="0" tIns="0" rIns="0" bIns="0" rtlCol="0" anchor="ctr"/>
          <a:lstStyle/>
          <a:p>
            <a:pPr indent="0" marL="0">
              <a:buNone/>
            </a:pPr>
            <a:r>
              <a:rPr lang="en-US" sz="4000" b="1" dirty="0">
                <a:solidFill>
                  <a:srgbClr val="D9950A"/>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6537960" y="3063240"/>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Test</a:t>
            </a:r>
            <a:endParaRPr lang="en-US" sz="1600" dirty="0"/>
          </a:p>
        </p:txBody>
      </p:sp>
      <p:sp>
        <p:nvSpPr>
          <p:cNvPr id="15" name="Text 13"/>
          <p:cNvSpPr txBox="1"/>
          <p:nvPr/>
        </p:nvSpPr>
        <p:spPr>
          <a:xfrm>
            <a:off x="6537960" y="3474720"/>
            <a:ext cx="2194560" cy="1188720"/>
          </a:xfrm>
          <a:prstGeom prst="rect">
            <a:avLst/>
          </a:prstGeom>
          <a:noFill/>
          <a:ln/>
        </p:spPr>
        <p:txBody>
          <a:bodyPr wrap="square" lIns="0" tIns="0" rIns="0" bIns="0" rtlCol="0" anchor="t"/>
          <a:lstStyle/>
          <a:p>
            <a:pPr indent="0" marL="0">
              <a:buNone/>
            </a:pPr>
            <a:r>
              <a:rPr lang="en-US" sz="1200" dirty="0">
                <a:solidFill>
                  <a:srgbClr val="CFC7E2"/>
                </a:solidFill>
                <a:latin typeface="Calibri" pitchFamily="34" charset="0"/>
                <a:ea typeface="Calibri" pitchFamily="34" charset="-122"/>
                <a:cs typeface="Calibri" pitchFamily="34" charset="-120"/>
              </a:rPr>
              <a:t>Run the 6 m cube in both systems; assert identical deflections and reactions.</a:t>
            </a:r>
            <a:endParaRPr lang="en-US" sz="1200" dirty="0"/>
          </a:p>
        </p:txBody>
      </p:sp>
      <p:sp>
        <p:nvSpPr>
          <p:cNvPr id="16" name="Shape 14"/>
          <p:cNvSpPr/>
          <p:nvPr/>
        </p:nvSpPr>
        <p:spPr>
          <a:xfrm>
            <a:off x="9098280" y="2103120"/>
            <a:ext cx="2606040" cy="2286000"/>
          </a:xfrm>
          <a:prstGeom prst="roundRect">
            <a:avLst>
              <a:gd name="adj" fmla="val 4000"/>
            </a:avLst>
          </a:prstGeom>
          <a:solidFill>
            <a:srgbClr val="2F3050"/>
          </a:solidFill>
          <a:ln w="12700">
            <a:solidFill>
              <a:srgbClr val="2F3050"/>
            </a:solidFill>
            <a:prstDash val="solid"/>
          </a:ln>
        </p:spPr>
      </p:sp>
      <p:sp>
        <p:nvSpPr>
          <p:cNvPr id="17" name="Text 15"/>
          <p:cNvSpPr txBox="1"/>
          <p:nvPr/>
        </p:nvSpPr>
        <p:spPr>
          <a:xfrm>
            <a:off x="9326880" y="2286000"/>
            <a:ext cx="914400" cy="731520"/>
          </a:xfrm>
          <a:prstGeom prst="rect">
            <a:avLst/>
          </a:prstGeom>
          <a:noFill/>
          <a:ln/>
        </p:spPr>
        <p:txBody>
          <a:bodyPr wrap="square" lIns="0" tIns="0" rIns="0" bIns="0" rtlCol="0" anchor="ctr"/>
          <a:lstStyle/>
          <a:p>
            <a:pPr indent="0" marL="0">
              <a:buNone/>
            </a:pPr>
            <a:r>
              <a:rPr lang="en-US" sz="4000" b="1" dirty="0">
                <a:solidFill>
                  <a:srgbClr val="D9950A"/>
                </a:solidFill>
                <a:latin typeface="Cambria" pitchFamily="34" charset="0"/>
                <a:ea typeface="Cambria" pitchFamily="34" charset="-122"/>
                <a:cs typeface="Cambria" pitchFamily="34" charset="-120"/>
              </a:rPr>
              <a:t>4</a:t>
            </a:r>
            <a:endParaRPr lang="en-US" sz="4000" dirty="0"/>
          </a:p>
        </p:txBody>
      </p:sp>
      <p:sp>
        <p:nvSpPr>
          <p:cNvPr id="18" name="Text 16"/>
          <p:cNvSpPr txBox="1"/>
          <p:nvPr/>
        </p:nvSpPr>
        <p:spPr>
          <a:xfrm>
            <a:off x="9326880" y="3063240"/>
            <a:ext cx="21945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Guard</a:t>
            </a:r>
            <a:endParaRPr lang="en-US" sz="1600" dirty="0"/>
          </a:p>
        </p:txBody>
      </p:sp>
      <p:sp>
        <p:nvSpPr>
          <p:cNvPr id="19" name="Text 17"/>
          <p:cNvSpPr txBox="1"/>
          <p:nvPr/>
        </p:nvSpPr>
        <p:spPr>
          <a:xfrm>
            <a:off x="9326880" y="3474720"/>
            <a:ext cx="2194560" cy="1188720"/>
          </a:xfrm>
          <a:prstGeom prst="rect">
            <a:avLst/>
          </a:prstGeom>
          <a:noFill/>
          <a:ln/>
        </p:spPr>
        <p:txBody>
          <a:bodyPr wrap="square" lIns="0" tIns="0" rIns="0" bIns="0" rtlCol="0" anchor="t"/>
          <a:lstStyle/>
          <a:p>
            <a:pPr indent="0" marL="0">
              <a:buNone/>
            </a:pPr>
            <a:r>
              <a:rPr lang="en-US" sz="1200" dirty="0">
                <a:solidFill>
                  <a:srgbClr val="CFC7E2"/>
                </a:solidFill>
                <a:latin typeface="Calibri" pitchFamily="34" charset="0"/>
                <a:ea typeface="Calibri" pitchFamily="34" charset="-122"/>
                <a:cs typeface="Calibri" pitchFamily="34" charset="-120"/>
              </a:rPr>
              <a:t>Add range checks on E, γ and α so a row like SS1 is caught at load time.</a:t>
            </a:r>
            <a:endParaRPr lang="en-US" sz="1200" dirty="0"/>
          </a:p>
        </p:txBody>
      </p:sp>
      <p:sp>
        <p:nvSpPr>
          <p:cNvPr id="20" name="Text 18"/>
          <p:cNvSpPr txBox="1"/>
          <p:nvPr/>
        </p:nvSpPr>
        <p:spPr>
          <a:xfrm>
            <a:off x="731520" y="4846320"/>
            <a:ext cx="10515600" cy="548640"/>
          </a:xfrm>
          <a:prstGeom prst="rect">
            <a:avLst/>
          </a:prstGeom>
          <a:noFill/>
          <a:ln/>
        </p:spPr>
        <p:txBody>
          <a:bodyPr wrap="square" lIns="0" tIns="0" rIns="0" bIns="0" rtlCol="0" anchor="ctr"/>
          <a:lstStyle/>
          <a:p>
            <a:pPr indent="0" marL="0">
              <a:buNone/>
            </a:pPr>
            <a:r>
              <a:rPr lang="en-US" sz="1300" dirty="0">
                <a:solidFill>
                  <a:srgbClr val="A9A6B8"/>
                </a:solidFill>
                <a:latin typeface="Calibri" pitchFamily="34" charset="0"/>
                <a:ea typeface="Calibri" pitchFamily="34" charset="-122"/>
                <a:cs typeface="Calibri" pitchFamily="34" charset="-120"/>
              </a:rPr>
              <a:t>Files in the Materials folder: Units_Imperial_Metric.xlsx and this deck, alongside RISA_Materials_Library.xlsx and its deck.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Units for Python Solver Rev.2</dc:title>
  <dc:subject>PptxGenJS Presentation</dc:subject>
  <dc:creator>Mark Airol Escranda</dc:creator>
  <cp:lastModifiedBy>Mark Airol Escranda</cp:lastModifiedBy>
  <cp:revision>1</cp:revision>
  <dcterms:created xsi:type="dcterms:W3CDTF">2026-09-08T01:50:04Z</dcterms:created>
  <dcterms:modified xsi:type="dcterms:W3CDTF">2026-09-08T01:50:04Z</dcterms:modified>
</cp:coreProperties>
</file>