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Numerical Solutions Lab  —  Series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D7EA"/>
                </a:solidFill>
              </a:rPr>
              <a:t>e and ln(a) seen through three limits: compound interest, difference quotients, Taylor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FFFFF"/>
                </a:solidFill>
              </a:rPr>
              <a:t>Python + NumPy + Matplotlib  ·  figures recreated from Series1.pdf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6FB0"/>
                </a:solidFill>
              </a:rPr>
              <a:t>What the laboratory sheet 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B6FB0"/>
                </a:solidFill>
              </a:rPr>
              <a:t>Exercise 1</a:t>
            </a:r>
          </a:p>
          <a:p>
            <a:r>
              <a:rPr sz="1800" b="0">
                <a:solidFill>
                  <a:srgbClr val="22303E"/>
                </a:solidFill>
              </a:rPr>
              <a:t>(1 + 1/n)^n  — compound-interest table “up to nanosecond” → e = 2.718282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974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B6FB0"/>
                </a:solidFill>
              </a:rPr>
              <a:t>Exercise 2</a:t>
            </a:r>
          </a:p>
          <a:p>
            <a:r>
              <a:rPr sz="1800" b="0">
                <a:solidFill>
                  <a:srgbClr val="22303E"/>
                </a:solidFill>
              </a:rPr>
              <a:t>(a^h − 1)/h for a = 2, e, 3 as h shrinks → settles at ln(a)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02336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B6FB0"/>
                </a:solidFill>
              </a:rPr>
              <a:t>Exercise 3</a:t>
            </a:r>
          </a:p>
          <a:p>
            <a:r>
              <a:rPr sz="1800" b="0">
                <a:solidFill>
                  <a:srgbClr val="22303E"/>
                </a:solidFill>
              </a:rPr>
              <a:t>e^x = Σ x^n/n! (x = 1) up to N = 10,000 terms → 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406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A6B7C"/>
                </a:solidFill>
              </a:rPr>
              <a:t>Each exercise: implement → print the limit table → draw a Matplotlib histogram.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6FB0"/>
                </a:solidFill>
              </a:rPr>
              <a:t>The concept behind the series: the number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6FB0"/>
                </a:solidFill>
              </a:rPr>
              <a:t>Continuous compounding</a:t>
            </a:r>
          </a:p>
          <a:p>
            <a:r>
              <a:rPr sz="1650" b="0">
                <a:solidFill>
                  <a:srgbClr val="22303E"/>
                </a:solidFill>
              </a:rPr>
              <a:t>e = lim (1 + 1/n)^n. One formula, three faces: interest paid yearly, monthly, …, continuously.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78608"/>
            <a:ext cx="108813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6FB0"/>
                </a:solidFill>
              </a:rPr>
              <a:t>Derivative of an exponential</a:t>
            </a:r>
          </a:p>
          <a:p>
            <a:r>
              <a:rPr sz="1650" b="0">
                <a:solidFill>
                  <a:srgbClr val="22303E"/>
                </a:solidFill>
              </a:rPr>
              <a:t>lim (a^h − 1)/h = ln(a); with a = e the limit is 1 — e is the base whose slope at 0 equals 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85616"/>
            <a:ext cx="108813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6FB0"/>
                </a:solidFill>
              </a:rPr>
              <a:t>Taylor series</a:t>
            </a:r>
          </a:p>
          <a:p>
            <a:r>
              <a:rPr sz="1650" b="0">
                <a:solidFill>
                  <a:srgbClr val="22303E"/>
                </a:solidFill>
              </a:rPr>
              <a:t>e^x = Σ x^n/n!; at x = 1 the partial sums converge to e — about one new correct digit per term.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992624"/>
            <a:ext cx="108813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6FB0"/>
                </a:solidFill>
              </a:rPr>
              <a:t>Why it matters numerically</a:t>
            </a:r>
          </a:p>
          <a:p>
            <a:r>
              <a:rPr sz="1650" b="0">
                <a:solidFill>
                  <a:srgbClr val="22303E"/>
                </a:solidFill>
              </a:rPr>
              <a:t>Same limit, different convergence speeds and different floating-point behaviour (e/(2n), (ln a)^2 h/2, e/(N+1)!). The lab shows limits are approximations until you add the error term.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6FB0"/>
                </a:solidFill>
              </a:rPr>
              <a:t>Exercise 1 — Compound interest: (1 + 1/n)^n →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0">
                <a:solidFill>
                  <a:srgbClr val="22303E"/>
                </a:solidFill>
              </a:rPr>
              <a:t>•  Table of the sheet:  yearly 2.000000, twice a year 2.250000, quarterly 2.441406  (= (1+1/n)^n).</a:t>
            </a:r>
          </a:p>
          <a:p>
            <a:r>
              <a:rPr sz="1550" b="0">
                <a:solidFill>
                  <a:srgbClr val="22303E"/>
                </a:solidFill>
              </a:rPr>
              <a:t>•  Extension “up to nanosecond”: n = 12, 52, 365, … 3.15×10^16; the sequence climbs to 2.718282 = e.</a:t>
            </a:r>
          </a:p>
          <a:p>
            <a:r>
              <a:rPr sz="1550" b="0">
                <a:solidFill>
                  <a:srgbClr val="22303E"/>
                </a:solidFill>
              </a:rPr>
              <a:t>•  Error analysis: (1 + 1/n)^n = e(1 − 1/2n + …) ⇒ |e − value| ≈ e/(2n).</a:t>
            </a:r>
          </a:p>
          <a:p>
            <a:r>
              <a:rPr sz="1550" b="0">
                <a:solidFill>
                  <a:srgbClr val="22303E"/>
                </a:solidFill>
              </a:rPr>
              <a:t>•  Histogram + log-n curve drawn with Matplotlib (figure 1).</a:t>
            </a:r>
          </a:p>
          <a:p>
            <a:r>
              <a:rPr sz="1550" b="1">
                <a:solidFill>
                  <a:srgbClr val="1B6FB0"/>
                </a:solidFill>
              </a:rPr>
              <a:t>ANSWER:  limits to e = 2.718281828…</a:t>
            </a:r>
          </a:p>
          <a:p>
            <a:r>
              <a:rPr sz="1550" b="1">
                <a:solidFill>
                  <a:srgbClr val="1B6FB0"/>
                </a:solidFill>
              </a:rPr>
              <a:t>Caveat: at n &gt; 2^53 ≈ 9×10^15, 1 + 1/n rounds to 1 in float64 — the “nanosecond” row returns 1.0.</a:t>
            </a:r>
          </a:p>
        </p:txBody>
      </p:sp>
      <p:pic>
        <p:nvPicPr>
          <p:cNvPr id="4" name="Picture 3" descr="figure1_compound_inte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34440"/>
            <a:ext cx="5669280" cy="22677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589788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A6B7C"/>
                </a:solidFill>
              </a:rPr>
              <a:t>Figure 1 — histogram of (1+1/n)^n; right: convergence curve on log n with the e-line.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6FB0"/>
                </a:solidFill>
              </a:rPr>
              <a:t>Exercise 2 — Difference quotient: (a^h − 1)/h → ln(a)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0">
                <a:solidFill>
                  <a:srgbClr val="22303E"/>
                </a:solidFill>
              </a:rPr>
              <a:t>•  (a^h − 1)/h = ln(a) + (ln a)^2 h/2 + …  →  ln(a).</a:t>
            </a:r>
          </a:p>
          <a:p>
            <a:r>
              <a:rPr sz="1550" b="0">
                <a:solidFill>
                  <a:srgbClr val="22303E"/>
                </a:solidFill>
              </a:rPr>
              <a:t>•  h = 0.1, 0.01, 0.001, 0.0001, … 1e-7  (Tolerance 1e-6).</a:t>
            </a:r>
          </a:p>
          <a:p>
            <a:r>
              <a:rPr sz="1550" b="0">
                <a:solidFill>
                  <a:srgbClr val="22303E"/>
                </a:solidFill>
              </a:rPr>
              <a:t>•  No sums needed — just pow() and division; each column “settles at” its logarithm.</a:t>
            </a:r>
          </a:p>
          <a:p>
            <a:r>
              <a:rPr sz="1550" b="1">
                <a:solidFill>
                  <a:srgbClr val="1B6FB0"/>
                </a:solidFill>
              </a:rPr>
              <a:t>ANSWER TABLE (matches the sheet):</a:t>
            </a:r>
          </a:p>
          <a:p>
            <a:r>
              <a:rPr sz="1550" b="1">
                <a:solidFill>
                  <a:srgbClr val="1B6FB0"/>
                </a:solidFill>
              </a:rPr>
              <a:t>h    a=2      a=e      a=3</a:t>
            </a:r>
          </a:p>
          <a:p>
            <a:r>
              <a:rPr sz="1550" b="1">
                <a:solidFill>
                  <a:srgbClr val="1B6FB0"/>
                </a:solidFill>
              </a:rPr>
              <a:t>0.1   0.7177   1.0517   1.1612</a:t>
            </a:r>
          </a:p>
          <a:p>
            <a:r>
              <a:rPr sz="1550" b="1">
                <a:solidFill>
                  <a:srgbClr val="1B6FB0"/>
                </a:solidFill>
              </a:rPr>
              <a:t>0.01  0.6956   1.0050   1.1047</a:t>
            </a:r>
          </a:p>
          <a:p>
            <a:r>
              <a:rPr sz="1550" b="1">
                <a:solidFill>
                  <a:srgbClr val="1B6FB0"/>
                </a:solidFill>
              </a:rPr>
              <a:t>0.001 0.6934   1.0005   1.0992</a:t>
            </a:r>
          </a:p>
          <a:p>
            <a:r>
              <a:rPr sz="1550" b="1">
                <a:solidFill>
                  <a:srgbClr val="1B6FB0"/>
                </a:solidFill>
              </a:rPr>
              <a:t>0.0001 0.6932  1.00005  1.0987</a:t>
            </a:r>
          </a:p>
          <a:p>
            <a:r>
              <a:rPr sz="1550" b="1">
                <a:solidFill>
                  <a:srgbClr val="1B6FB0"/>
                </a:solidFill>
              </a:rPr>
              <a:t>settles at  0.693147  1.000000  1.098612</a:t>
            </a:r>
          </a:p>
        </p:txBody>
      </p:sp>
      <p:pic>
        <p:nvPicPr>
          <p:cNvPr id="4" name="Picture 3" descr="figure2_difference_quot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34440"/>
            <a:ext cx="5669280" cy="34015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589788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A6B7C"/>
                </a:solidFill>
              </a:rPr>
              <a:t>Figure 2 — bars = quotient per h; dashed lines = ln(a) for a = 2, e, 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6FB0"/>
                </a:solidFill>
              </a:rPr>
              <a:t>Exercise 3 — Taylor series: e^x = Σ x^n/n! (x =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0">
                <a:solidFill>
                  <a:srgbClr val="22303E"/>
                </a:solidFill>
              </a:rPr>
              <a:t>•  e^x = Σ x^n/n! with x = 1, N up to 10,000; recurrence term ← term·x/n (no huge factorials).</a:t>
            </a:r>
          </a:p>
          <a:p>
            <a:r>
              <a:rPr sz="1550" b="0">
                <a:solidFill>
                  <a:srgbClr val="22303E"/>
                </a:solidFill>
              </a:rPr>
              <a:t>•  Partial sums: N=3 → 2.666667, N=6 → 2.718055, N=9 → 2.7182815, N=12 → 2.7182818282.</a:t>
            </a:r>
          </a:p>
          <a:p>
            <a:r>
              <a:rPr sz="1550" b="0">
                <a:solidFill>
                  <a:srgbClr val="22303E"/>
                </a:solidFill>
              </a:rPr>
              <a:t>•  Every term adds ~1 correct digit: error ≈ e/(N+1)!.</a:t>
            </a:r>
          </a:p>
          <a:p>
            <a:r>
              <a:rPr sz="1550" b="0">
                <a:solidFill>
                  <a:srgbClr val="22303E"/>
                </a:solidFill>
              </a:rPr>
              <a:t>•  Double precision exhausted by N ≈ 20–40; the rest up to 10,000 changes nothing.</a:t>
            </a:r>
          </a:p>
          <a:p>
            <a:r>
              <a:rPr sz="1550" b="1">
                <a:solidFill>
                  <a:srgbClr val="1B6FB0"/>
                </a:solidFill>
              </a:rPr>
              <a:t>ANSWER:  converges to e = 2.718281828459045…</a:t>
            </a:r>
          </a:p>
          <a:p>
            <a:r>
              <a:rPr sz="1550" b="1">
                <a:solidFill>
                  <a:srgbClr val="1B6FB0"/>
                </a:solidFill>
              </a:rPr>
              <a:t>Histogram of partial sums + log-log plot of |e − S_N| (figure 3).</a:t>
            </a:r>
          </a:p>
        </p:txBody>
      </p:sp>
      <p:pic>
        <p:nvPicPr>
          <p:cNvPr id="4" name="Picture 3" descr="figure3_taylor_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34440"/>
            <a:ext cx="5669280" cy="22677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589788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A6B7C"/>
                </a:solidFill>
              </a:rPr>
              <a:t>Figure 3 — left: histogram of partial sums; right: correct digits per N on a log-log scale.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6FB0"/>
                </a:solidFill>
              </a:rPr>
              <a:t>Answers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B6FB0"/>
                </a:solidFill>
              </a:rPr>
              <a:t>Exercise 1  —  (1 + 1/n)^n   (n = 1, 2, 4, … → up to nanosecond)</a:t>
            </a:r>
          </a:p>
          <a:p>
            <a:r>
              <a:rPr sz="1600" b="0">
                <a:solidFill>
                  <a:srgbClr val="22303E"/>
                </a:solidFill>
              </a:rPr>
              <a:t>2.000000 / 2.250000 / 2.441406 → e = 2.718282 (error = e/(2n); float64 breaks at 2^53)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B6FB0"/>
                </a:solidFill>
              </a:rPr>
              <a:t>Exercise 2  —  (a^h − 1)/h   (a = 2, e, 3 ; h = 0.1 → 1e-7)</a:t>
            </a:r>
          </a:p>
          <a:p>
            <a:r>
              <a:rPr sz="1600" b="0">
                <a:solidFill>
                  <a:srgbClr val="22303E"/>
                </a:solidFill>
              </a:rPr>
              <a:t>0.7177… 1.0517… 1.1612… → ln a = 0.6931 / 1.0000 / 1.0986 within 1e-6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B6FB0"/>
                </a:solidFill>
              </a:rPr>
              <a:t>Exercise 3  —  Σ x^n/n!, x = 1   (N up to 10,000)</a:t>
            </a:r>
          </a:p>
          <a:p>
            <a:r>
              <a:rPr sz="1600" b="0">
                <a:solidFill>
                  <a:srgbClr val="22303E"/>
                </a:solidFill>
              </a:rPr>
              <a:t>S_N → e; |e − S_N| ≈ e/(N+1)!; machine precision by N ≈ 20–40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C7A30"/>
                </a:solidFill>
              </a:rPr>
              <a:t>Conclusion: three different formulas, the same limit — 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6FB0"/>
                </a:solidFill>
              </a:rPr>
              <a:t>Files delivered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303E"/>
                </a:solidFill>
              </a:rPr>
              <a:t>series1_ex1.py           → figure1_compound_interest.png</a:t>
            </a:r>
          </a:p>
          <a:p>
            <a:r>
              <a:rPr sz="1800" b="0">
                <a:solidFill>
                  <a:srgbClr val="22303E"/>
                </a:solidFill>
              </a:rPr>
              <a:t>series1_ex2.py           → figure2_difference_quotient.png</a:t>
            </a:r>
          </a:p>
          <a:p>
            <a:r>
              <a:rPr sz="1800" b="0">
                <a:solidFill>
                  <a:srgbClr val="22303E"/>
                </a:solidFill>
              </a:rPr>
              <a:t>series1_ex3.py           → figure3_taylor_series.png</a:t>
            </a:r>
          </a:p>
          <a:p>
            <a:r>
              <a:rPr sz="1800" b="0">
                <a:solidFill>
                  <a:srgbClr val="22303E"/>
                </a:solidFill>
              </a:rPr>
              <a:t>dashboard.html           → interactive results dashboard</a:t>
            </a:r>
          </a:p>
          <a:p>
            <a:r>
              <a:rPr sz="1800" b="0">
                <a:solidFill>
                  <a:srgbClr val="22303E"/>
                </a:solidFill>
              </a:rPr>
              <a:t>series1_presentation.pptx → this presentation</a:t>
            </a:r>
          </a:p>
          <a:p>
            <a:r>
              <a:rPr sz="1800" b="0">
                <a:solidFill>
                  <a:srgbClr val="22303E"/>
                </a:solidFill>
              </a:rPr>
              <a:t>Series1.pdf               → original laboratory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7607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B6FB0"/>
                </a:solidFill>
              </a:rP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